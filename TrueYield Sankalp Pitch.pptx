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5200"/>
    <a:srgbClr val="0B254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742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0:00 to 0:15]</a:t>
            </a:r>
          </a:p>
          <a:p>
            <a:r>
              <a:rPr lang="en-US" dirty="0"/>
              <a:t>I'm Raghav Rege, a third-year computer science student at SRM Institute of Science and Technology. This is TrueYield: an independent check on how much energy a rooftop solar system is losing, and how much a fix wins back.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0:15 to 0:40]</a:t>
            </a:r>
          </a:p>
          <a:p>
            <a:r>
              <a:rPr lang="en-US" dirty="0"/>
              <a:t>A small business puts solar on its roof, often on a loan. Then dust, shade and faults build up, and the savings shrink without anyone noticing. Field tests on Delhi rooftops found ten to twenty percent more energy after a single cleaning. The panels still work, so nobody sees the loss. And no neutral record says what the system should be producing.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0:40 to 1:10]</a:t>
            </a:r>
          </a:p>
          <a:p>
            <a:r>
              <a:rPr lang="en-US" dirty="0"/>
              <a:t>TrueYield works as one loop. It takes the inverter's own data and free satellite weather, works out what the system should have produced, and measures the gap, always with a range. This chart is real data from a rooftop plant in Jaipur in 2022. Navy is expected output, amber is actual. The gap in December is a twenty-seven day breakdown. The gap in May and June closes after heavy rain on the nineteenth of June.</a:t>
            </a:r>
          </a:p>
          <a:p>
            <a:r>
              <a:rPr lang="en-US" dirty="0"/>
              <a:t>[NEXT: slides 4 and 5 are optional. If you skip them, switch to the terminal and the app now. The demo narration is in the notes of slide 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about 15 seconds. Skip this slide if the video runs over 4 minutes.]</a:t>
            </a:r>
          </a:p>
          <a:p>
            <a:r>
              <a:rPr lang="en-US" dirty="0"/>
              <a:t>The architecture is a straight pipeline: clean the inverter data, model the expected yield, estimate the loss with a range, suggest a likely cause, and verify recovery around a dated event. It is built in Python with pvlib and NASA weather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about 15 seconds. Skip this slide if the video runs over 4 minutes.]</a:t>
            </a:r>
          </a:p>
          <a:p>
            <a:r>
              <a:rPr lang="en-US" dirty="0"/>
              <a:t>Solar monitoring already exists, sold by installers and hardware makers. What is missing is a neutral record of lost and recovered energy that says how sure it is. That is what I add.</a:t>
            </a:r>
          </a:p>
          <a:p>
            <a:r>
              <a:rPr lang="en-US" dirty="0"/>
              <a:t>[NOW SWITCH TO THE DEMO. VIDEO 1:10 to 2:50 if slides 4 and 5 were skipped.]</a:t>
            </a:r>
          </a:p>
          <a:p>
            <a:r>
              <a:rPr lang="en-US" dirty="0"/>
              <a:t>[Terminal, showing the finished run] Here is the working prototype. One command runs the whole pipeline. The input is one year of daily energy readings from a 120 kilowatt rooftop plant in Jaipur, a public dataset, together with satellite weather from NASA. Nothing is trained: there is no machine learning here. Each system is compared against its own best performance.</a:t>
            </a:r>
          </a:p>
          <a:p>
            <a:r>
              <a:rPr lang="en-US" dirty="0"/>
              <a:t>[App, Jaipur selected, top of the page] In the viewer I choose the Jaipur system. Every screen carries a data label, so it is clear this is not my own system. The estimated loss is 8.4 percent, with a range of 6.5 to 9.2, about fourteen thousand nine hundred kilowatt-hours. The tool never shows a loss without its range. It also states its detection limit: on this data, anything under about nine percent over two weeks cannot be told apart from noise, so it is not claimed.</a:t>
            </a:r>
          </a:p>
          <a:p>
            <a:r>
              <a:rPr lang="en-US" dirty="0"/>
              <a:t>[App, scroll to the second chart] This chart shows performance against the system's own best. Shaded bands are sustained shortfalls, green lines are heavy rain, and the crosses are days of zero output in good sun.</a:t>
            </a:r>
          </a:p>
          <a:p>
            <a:r>
              <a:rPr lang="en-US" dirty="0"/>
              <a:t>[App, open 'outage or fault', then 'soiling'] Under likely causes, facts and hypotheses are kept apart. Outage: twenty-nine days of near-zero output, which is a fact. Soiling: tested, and not distinguishable from scatter, so the tool says so instead of guessing.</a:t>
            </a:r>
          </a:p>
          <a:p>
            <a:r>
              <a:rPr lang="en-US" dirty="0"/>
              <a:t>[The Jaipur PDF report, page 1 then page 2] Each system also gets a two-page report that an owner, installer or lender can audit: what was measured, what was estimated, how sure, and the limits. It is physics and statistics only. No machine learning and no language model is used in the analysis.</a:t>
            </a:r>
          </a:p>
          <a:p>
            <a:r>
              <a:rPr lang="en-US" dirty="0"/>
              <a:t>[Return to the deck at slide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2:50 to 3:25]</a:t>
            </a:r>
          </a:p>
          <a:p>
            <a:r>
              <a:rPr lang="en-US" dirty="0"/>
              <a:t>What can I honestly claim today? An estimated loss, on public data. Most of the Jaipur loss is that December breakdown, which the dataset's authors also report, so the tool found it independently. I tested the method by injecting a known loss into four years of data from three systems in Las Vegas: it recovered eighty-five percent, inside its stated range. On one year of Jaipur data that check did not pass, so those figures are coarse. A real cleaning test, before and after, is planned and not yet 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3:25 to 3:50]</a:t>
            </a:r>
          </a:p>
          <a:p>
            <a:r>
              <a:rPr lang="en-US" dirty="0"/>
              <a:t>The first users are small commercial rooftop owners and their installers. It is software only and needs no new hardware where the inverter already records generation. The business model is still a hypothesis. My ask is mentorship, pilot rooftops and data partners, so the next result is a measured recovery on an Indian roof.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3:50 to 4:00]</a:t>
            </a:r>
          </a:p>
          <a:p>
            <a:r>
              <a:rPr lang="en-US" dirty="0"/>
              <a:t>Every figure here traces to a source.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83781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782241"/>
          </a:xfrm>
          <a:prstGeom prst="rect">
            <a:avLst/>
          </a:prstGeom>
          <a:noFill/>
          <a:ln/>
        </p:spPr>
        <p:txBody>
          <a:bodyPr wrap="square" lIns="0" tIns="0" rIns="0" bIns="0" rtlCol="0" anchor="t"/>
          <a:lstStyle>
            <a:lvl1pPr marL="0" indent="0" algn="l">
              <a:lnSpc>
                <a:spcPct val="115000"/>
              </a:lnSpc>
              <a:buNone/>
              <a:defRPr lang="en-US" sz="2800" dirty="0">
                <a:solidFill>
                  <a:srgbClr val="0B2545"/>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0B2545"/>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782241"/>
          </a:xfrm>
          <a:prstGeom prst="rect">
            <a:avLst/>
          </a:prstGeom>
          <a:noFill/>
          <a:ln/>
        </p:spPr>
        <p:txBody>
          <a:bodyPr wrap="square" lIns="0" tIns="0" rIns="0" bIns="0" rtlCol="0" anchor="t"/>
          <a:lstStyle>
            <a:lvl1pPr marL="0" indent="0" algn="l">
              <a:lnSpc>
                <a:spcPct val="115000"/>
              </a:lnSpc>
              <a:buNone/>
              <a:defRPr lang="en-US" sz="2800" dirty="0">
                <a:solidFill>
                  <a:srgbClr val="0B2545"/>
                </a:solidFill>
                <a:latin typeface="DM Sans" pitchFamily="34" charset="0"/>
                <a:ea typeface="DM Sans" pitchFamily="34" charset="-122"/>
                <a:cs typeface="DM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0B2545"/>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pic>
        <p:nvPicPr>
          <p:cNvPr id="2" name="Image 0" descr="Two lines over time: expected solar output stays level while actual output sags, then recovers after a fix"/>
          <p:cNvPicPr>
            <a:picLocks noChangeAspect="1"/>
          </p:cNvPicPr>
          <p:nvPr/>
        </p:nvPicPr>
        <p:blipFill>
          <a:blip r:embed="rId3"/>
          <a:srcRect/>
          <a:stretch/>
        </p:blipFill>
        <p:spPr>
          <a:xfrm>
            <a:off x="6553200" y="1905000"/>
            <a:ext cx="4826000" cy="2667000"/>
          </a:xfrm>
          <a:prstGeom prst="rect">
            <a:avLst/>
          </a:prstGeom>
        </p:spPr>
      </p:pic>
      <p:sp>
        <p:nvSpPr>
          <p:cNvPr id="3" name="Text 0"/>
          <p:cNvSpPr/>
          <p:nvPr/>
        </p:nvSpPr>
        <p:spPr>
          <a:xfrm>
            <a:off x="812800" y="812800"/>
            <a:ext cx="56248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5A623"/>
                </a:solidFill>
                <a:latin typeface="DM Sans" pitchFamily="34" charset="0"/>
                <a:ea typeface="DM Sans" pitchFamily="34" charset="-122"/>
                <a:cs typeface="DM Sans" pitchFamily="34" charset="-120"/>
              </a:rPr>
              <a:t>SANKALP BY SFL · THE CLIMATE EDITION 2026</a:t>
            </a:r>
            <a:endParaRPr lang="en-US" sz="1200" dirty="0"/>
          </a:p>
        </p:txBody>
      </p:sp>
      <p:sp>
        <p:nvSpPr>
          <p:cNvPr id="4" name="Text 1"/>
          <p:cNvSpPr>
            <a:spLocks noGrp="1"/>
          </p:cNvSpPr>
          <p:nvPr>
            <p:ph type="title"/>
          </p:nvPr>
        </p:nvSpPr>
        <p:spPr>
          <a:xfrm>
            <a:off x="812800" y="1178520"/>
            <a:ext cx="5624830"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AFAF7"/>
                </a:solidFill>
                <a:latin typeface="DM Sans" pitchFamily="34" charset="0"/>
                <a:ea typeface="DM Sans" pitchFamily="34" charset="-122"/>
                <a:cs typeface="DM Sans" pitchFamily="34" charset="-120"/>
              </a:rPr>
              <a:t>TrueYield</a:t>
            </a:r>
            <a:endParaRPr lang="en-US" sz="6000" dirty="0"/>
          </a:p>
        </p:txBody>
      </p:sp>
      <p:sp>
        <p:nvSpPr>
          <p:cNvPr id="5" name="Shape 2"/>
          <p:cNvSpPr/>
          <p:nvPr/>
        </p:nvSpPr>
        <p:spPr>
          <a:xfrm>
            <a:off x="812800" y="2131020"/>
            <a:ext cx="1016000" cy="50800"/>
          </a:xfrm>
          <a:prstGeom prst="rect">
            <a:avLst/>
          </a:prstGeom>
          <a:solidFill>
            <a:srgbClr val="F5A623"/>
          </a:solidFill>
          <a:ln/>
        </p:spPr>
      </p:sp>
      <p:sp>
        <p:nvSpPr>
          <p:cNvPr id="6" name="Text 3"/>
          <p:cNvSpPr/>
          <p:nvPr/>
        </p:nvSpPr>
        <p:spPr>
          <a:xfrm>
            <a:off x="812800" y="2334220"/>
            <a:ext cx="5624830" cy="91688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AFAF7"/>
                </a:solidFill>
                <a:latin typeface="DM Sans" pitchFamily="34" charset="0"/>
                <a:ea typeface="DM Sans" pitchFamily="34" charset="-122"/>
                <a:cs typeface="DM Sans" pitchFamily="34" charset="-120"/>
              </a:rPr>
              <a:t>Independent verification of how much energy a rooftop solar system loses, and how much a fix wins back.</a:t>
            </a:r>
            <a:endParaRPr lang="en-US" sz="1800" dirty="0"/>
          </a:p>
        </p:txBody>
      </p:sp>
      <p:sp>
        <p:nvSpPr>
          <p:cNvPr id="7" name="Text 4"/>
          <p:cNvSpPr/>
          <p:nvPr/>
        </p:nvSpPr>
        <p:spPr>
          <a:xfrm>
            <a:off x="812800" y="5532239"/>
            <a:ext cx="562483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AFAF7"/>
                </a:solidFill>
                <a:latin typeface="DM Sans" pitchFamily="34" charset="0"/>
                <a:ea typeface="DM Sans" pitchFamily="34" charset="-122"/>
                <a:cs typeface="DM Sans" pitchFamily="34" charset="-120"/>
              </a:rPr>
              <a:t>Student Track · Theme: Clean Energy</a:t>
            </a:r>
            <a:endParaRPr lang="en-US" sz="1400" dirty="0"/>
          </a:p>
        </p:txBody>
      </p:sp>
      <p:sp>
        <p:nvSpPr>
          <p:cNvPr id="8" name="Text 5"/>
          <p:cNvSpPr/>
          <p:nvPr/>
        </p:nvSpPr>
        <p:spPr>
          <a:xfrm>
            <a:off x="812800" y="5831880"/>
            <a:ext cx="5624830" cy="47548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0E3"/>
                </a:solidFill>
                <a:latin typeface="DM Sans" pitchFamily="34" charset="0"/>
                <a:ea typeface="DM Sans" pitchFamily="34" charset="-122"/>
                <a:cs typeface="DM Sans" pitchFamily="34" charset="-120"/>
              </a:rPr>
              <a:t>Raghav Rege · B.Tech CSE, 3rd year</a:t>
            </a:r>
            <a:r>
              <a:t/>
            </a:r>
            <a:br/>
            <a:r>
              <a:rPr lang="en-US" sz="1200" dirty="0">
                <a:solidFill>
                  <a:srgbClr val="BFD0E3"/>
                </a:solidFill>
                <a:latin typeface="DM Sans" pitchFamily="34" charset="0"/>
                <a:ea typeface="DM Sans" pitchFamily="34" charset="-122"/>
                <a:cs typeface="DM Sans" pitchFamily="34" charset="-120"/>
              </a:rPr>
              <a:t>SRM Institute of Science and Technology · raghav.rege@gmail.com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545"/>
                </a:solidFill>
                <a:latin typeface="DM Sans" pitchFamily="34" charset="0"/>
                <a:ea typeface="DM Sans" pitchFamily="34" charset="-122"/>
                <a:cs typeface="DM Sans" pitchFamily="34" charset="-120"/>
              </a:rPr>
              <a:t>Small solar systems lose output quietly, and owners cannot see it</a:t>
            </a:r>
            <a:endParaRPr lang="en-US" sz="2800" dirty="0"/>
          </a:p>
        </p:txBody>
      </p:sp>
      <p:sp>
        <p:nvSpPr>
          <p:cNvPr id="3" name="Shape 1"/>
          <p:cNvSpPr/>
          <p:nvPr/>
        </p:nvSpPr>
        <p:spPr>
          <a:xfrm>
            <a:off x="812800" y="1849041"/>
            <a:ext cx="3556000" cy="3500041"/>
          </a:xfrm>
          <a:prstGeom prst="roundRect">
            <a:avLst>
              <a:gd name="adj" fmla="val 4354"/>
            </a:avLst>
          </a:prstGeom>
          <a:solidFill>
            <a:srgbClr val="0B2545"/>
          </a:solidFill>
          <a:ln/>
        </p:spPr>
      </p:sp>
      <p:sp>
        <p:nvSpPr>
          <p:cNvPr id="4" name="Text 2"/>
          <p:cNvSpPr/>
          <p:nvPr/>
        </p:nvSpPr>
        <p:spPr>
          <a:xfrm>
            <a:off x="1117600" y="2153841"/>
            <a:ext cx="3034792" cy="1549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5A623"/>
                </a:solidFill>
                <a:latin typeface="DM Sans" pitchFamily="34" charset="0"/>
                <a:ea typeface="DM Sans" pitchFamily="34" charset="-122"/>
                <a:cs typeface="DM Sans" pitchFamily="34" charset="-120"/>
              </a:rPr>
              <a:t>10–20%</a:t>
            </a:r>
            <a:endParaRPr lang="en-US" sz="6000" dirty="0"/>
          </a:p>
        </p:txBody>
      </p:sp>
      <p:sp>
        <p:nvSpPr>
          <p:cNvPr id="5" name="Text 3"/>
          <p:cNvSpPr/>
          <p:nvPr/>
        </p:nvSpPr>
        <p:spPr>
          <a:xfrm>
            <a:off x="1117600" y="3804841"/>
            <a:ext cx="30347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AFAF7"/>
                </a:solidFill>
                <a:latin typeface="DM Sans" pitchFamily="34" charset="0"/>
                <a:ea typeface="DM Sans" pitchFamily="34" charset="-122"/>
                <a:cs typeface="DM Sans" pitchFamily="34" charset="-120"/>
              </a:rPr>
              <a:t>more energy after a single cleaning, in field tests on 61 Delhi rooftops</a:t>
            </a:r>
            <a:endParaRPr lang="en-US" sz="1400" dirty="0"/>
          </a:p>
        </p:txBody>
      </p:sp>
      <p:sp>
        <p:nvSpPr>
          <p:cNvPr id="6" name="Shape 4"/>
          <p:cNvSpPr/>
          <p:nvPr/>
        </p:nvSpPr>
        <p:spPr>
          <a:xfrm>
            <a:off x="1117600" y="4411861"/>
            <a:ext cx="609600" cy="25400"/>
          </a:xfrm>
          <a:prstGeom prst="rect">
            <a:avLst/>
          </a:prstGeom>
          <a:solidFill>
            <a:srgbClr val="F5A623"/>
          </a:solidFill>
          <a:ln/>
        </p:spPr>
      </p:sp>
      <p:sp>
        <p:nvSpPr>
          <p:cNvPr id="7" name="Text 5"/>
          <p:cNvSpPr/>
          <p:nvPr/>
        </p:nvSpPr>
        <p:spPr>
          <a:xfrm>
            <a:off x="1117600" y="4564261"/>
            <a:ext cx="30347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AFAF7"/>
                </a:solidFill>
                <a:latin typeface="DM Sans" pitchFamily="34" charset="0"/>
                <a:ea typeface="DM Sans" pitchFamily="34" charset="-122"/>
                <a:cs typeface="DM Sans" pitchFamily="34" charset="-120"/>
              </a:rPr>
              <a:t>Soiling was found at about 80% of the sites tested</a:t>
            </a:r>
            <a:endParaRPr lang="en-US" sz="1400" dirty="0"/>
          </a:p>
        </p:txBody>
      </p:sp>
      <p:sp>
        <p:nvSpPr>
          <p:cNvPr id="8" name="Shape 6"/>
          <p:cNvSpPr/>
          <p:nvPr/>
        </p:nvSpPr>
        <p:spPr>
          <a:xfrm>
            <a:off x="4575175" y="1852216"/>
            <a:ext cx="6800850" cy="788591"/>
          </a:xfrm>
          <a:prstGeom prst="roundRect">
            <a:avLst>
              <a:gd name="adj" fmla="val 12481"/>
            </a:avLst>
          </a:prstGeom>
          <a:solidFill>
            <a:srgbClr val="FFFFFF"/>
          </a:solidFill>
          <a:ln w="6350">
            <a:solidFill>
              <a:srgbClr val="D9DEE5"/>
            </a:solidFill>
            <a:prstDash val="solid"/>
          </a:ln>
        </p:spPr>
      </p:sp>
      <p:sp>
        <p:nvSpPr>
          <p:cNvPr id="9" name="Text 7"/>
          <p:cNvSpPr/>
          <p:nvPr/>
        </p:nvSpPr>
        <p:spPr>
          <a:xfrm>
            <a:off x="4781550" y="2007791"/>
            <a:ext cx="657974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1. A small business installs rooftop solar</a:t>
            </a:r>
            <a:endParaRPr lang="en-US" sz="1400" dirty="0"/>
          </a:p>
        </p:txBody>
      </p:sp>
      <p:sp>
        <p:nvSpPr>
          <p:cNvPr id="10" name="Text 8"/>
          <p:cNvSpPr/>
          <p:nvPr/>
        </p:nvSpPr>
        <p:spPr>
          <a:xfrm>
            <a:off x="4781550" y="2271911"/>
            <a:ext cx="65797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Often on a loan, expecting a steady saving on every bill.</a:t>
            </a:r>
            <a:endParaRPr lang="en-US" sz="1200" dirty="0"/>
          </a:p>
        </p:txBody>
      </p:sp>
      <p:sp>
        <p:nvSpPr>
          <p:cNvPr id="11" name="Shape 9"/>
          <p:cNvSpPr/>
          <p:nvPr/>
        </p:nvSpPr>
        <p:spPr>
          <a:xfrm>
            <a:off x="4575175" y="2774156"/>
            <a:ext cx="6800850" cy="788591"/>
          </a:xfrm>
          <a:prstGeom prst="roundRect">
            <a:avLst>
              <a:gd name="adj" fmla="val 12481"/>
            </a:avLst>
          </a:prstGeom>
          <a:solidFill>
            <a:srgbClr val="FFFFFF"/>
          </a:solidFill>
          <a:ln w="6350">
            <a:solidFill>
              <a:srgbClr val="D9DEE5"/>
            </a:solidFill>
            <a:prstDash val="solid"/>
          </a:ln>
        </p:spPr>
      </p:sp>
      <p:sp>
        <p:nvSpPr>
          <p:cNvPr id="12" name="Text 10"/>
          <p:cNvSpPr/>
          <p:nvPr/>
        </p:nvSpPr>
        <p:spPr>
          <a:xfrm>
            <a:off x="4781550" y="2929731"/>
            <a:ext cx="657974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2. Dust, shade and faults build up</a:t>
            </a:r>
            <a:endParaRPr lang="en-US" sz="1400" dirty="0"/>
          </a:p>
        </p:txBody>
      </p:sp>
      <p:sp>
        <p:nvSpPr>
          <p:cNvPr id="13" name="Text 11"/>
          <p:cNvSpPr/>
          <p:nvPr/>
        </p:nvSpPr>
        <p:spPr>
          <a:xfrm>
            <a:off x="4781550" y="3193852"/>
            <a:ext cx="65797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Free maintenance usually excludes cleaning and is mostly reactive.</a:t>
            </a:r>
            <a:endParaRPr lang="en-US" sz="1200" dirty="0"/>
          </a:p>
        </p:txBody>
      </p:sp>
      <p:sp>
        <p:nvSpPr>
          <p:cNvPr id="14" name="Shape 12"/>
          <p:cNvSpPr/>
          <p:nvPr/>
        </p:nvSpPr>
        <p:spPr>
          <a:xfrm>
            <a:off x="4575175" y="3696097"/>
            <a:ext cx="6800850" cy="788591"/>
          </a:xfrm>
          <a:prstGeom prst="roundRect">
            <a:avLst>
              <a:gd name="adj" fmla="val 12481"/>
            </a:avLst>
          </a:prstGeom>
          <a:solidFill>
            <a:srgbClr val="FFFFFF"/>
          </a:solidFill>
          <a:ln w="6350">
            <a:solidFill>
              <a:srgbClr val="D9DEE5"/>
            </a:solidFill>
            <a:prstDash val="solid"/>
          </a:ln>
        </p:spPr>
      </p:sp>
      <p:sp>
        <p:nvSpPr>
          <p:cNvPr id="15" name="Text 13"/>
          <p:cNvSpPr/>
          <p:nvPr/>
        </p:nvSpPr>
        <p:spPr>
          <a:xfrm>
            <a:off x="4781550" y="3851672"/>
            <a:ext cx="657974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3. Savings shrink without warning</a:t>
            </a:r>
            <a:endParaRPr lang="en-US" sz="1400" dirty="0"/>
          </a:p>
        </p:txBody>
      </p:sp>
      <p:sp>
        <p:nvSpPr>
          <p:cNvPr id="16" name="Text 14"/>
          <p:cNvSpPr/>
          <p:nvPr/>
        </p:nvSpPr>
        <p:spPr>
          <a:xfrm>
            <a:off x="4781550" y="4115792"/>
            <a:ext cx="657974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No independent record shows what the system should be producing.</a:t>
            </a:r>
            <a:endParaRPr lang="en-US" sz="1200" dirty="0"/>
          </a:p>
        </p:txBody>
      </p:sp>
      <p:sp>
        <p:nvSpPr>
          <p:cNvPr id="17" name="Text 15"/>
          <p:cNvSpPr/>
          <p:nvPr/>
        </p:nvSpPr>
        <p:spPr>
          <a:xfrm>
            <a:off x="4572000" y="4614863"/>
            <a:ext cx="7011416" cy="25648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0B2545"/>
                </a:solidFill>
                <a:latin typeface="DM Sans" pitchFamily="34" charset="0"/>
                <a:ea typeface="DM Sans" pitchFamily="34" charset="-122"/>
                <a:cs typeface="DM Sans" pitchFamily="34" charset="-120"/>
              </a:rPr>
              <a:t>The panels still work, so nobody notices the loss.</a:t>
            </a:r>
            <a:endParaRPr lang="en-US" sz="1400" dirty="0"/>
          </a:p>
        </p:txBody>
      </p:sp>
      <p:sp>
        <p:nvSpPr>
          <p:cNvPr id="18" name="Text 16"/>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Sources: CEEW 2023 [1], CEEW 2026 [2]</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2 / 8</a:t>
            </a:r>
            <a:endParaRPr lang="en-US" sz="1200" dirty="0"/>
          </a:p>
        </p:txBody>
      </p:sp>
      <p:sp>
        <p:nvSpPr>
          <p:cNvPr id="20"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PROBLEM</a:t>
            </a:r>
            <a:r>
              <a:rPr lang="en-GB" sz="2200" b="1" dirty="0" smtClean="0">
                <a:solidFill>
                  <a:schemeClr val="tx1"/>
                </a:solidFill>
              </a:rPr>
              <a:t>:</a:t>
            </a:r>
            <a:endParaRPr lang="en-GB" sz="2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37" name="Shape 13"/>
          <p:cNvSpPr/>
          <p:nvPr/>
        </p:nvSpPr>
        <p:spPr>
          <a:xfrm>
            <a:off x="8438753" y="1461095"/>
            <a:ext cx="1417836" cy="737791"/>
          </a:xfrm>
          <a:prstGeom prst="roundRect">
            <a:avLst>
              <a:gd name="adj" fmla="val 13340"/>
            </a:avLst>
          </a:prstGeom>
          <a:solidFill>
            <a:srgbClr val="FFFFFF"/>
          </a:solidFill>
          <a:ln w="6350">
            <a:solidFill>
              <a:srgbClr val="D9DEE5"/>
            </a:solidFill>
            <a:prstDash val="solid"/>
          </a:ln>
        </p:spPr>
      </p:sp>
      <p:sp>
        <p:nvSpPr>
          <p:cNvPr id="2"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545"/>
                </a:solidFill>
                <a:latin typeface="DM Sans" pitchFamily="34" charset="0"/>
                <a:ea typeface="DM Sans" pitchFamily="34" charset="-122"/>
                <a:cs typeface="DM Sans" pitchFamily="34" charset="-120"/>
              </a:rPr>
              <a:t>One loop: verify the loss, explain it, and prove the recovery</a:t>
            </a:r>
            <a:endParaRPr lang="en-US" sz="2800" dirty="0"/>
          </a:p>
        </p:txBody>
      </p:sp>
      <p:sp>
        <p:nvSpPr>
          <p:cNvPr id="3" name="Shape 1"/>
          <p:cNvSpPr/>
          <p:nvPr/>
        </p:nvSpPr>
        <p:spPr>
          <a:xfrm>
            <a:off x="815975" y="1461095"/>
            <a:ext cx="1417836" cy="737791"/>
          </a:xfrm>
          <a:prstGeom prst="roundRect">
            <a:avLst>
              <a:gd name="adj" fmla="val 13340"/>
            </a:avLst>
          </a:prstGeom>
          <a:solidFill>
            <a:srgbClr val="FFFFFF"/>
          </a:solidFill>
          <a:ln w="6350">
            <a:solidFill>
              <a:srgbClr val="D9DEE5"/>
            </a:solidFill>
            <a:prstDash val="solid"/>
          </a:ln>
        </p:spPr>
      </p:sp>
      <p:sp>
        <p:nvSpPr>
          <p:cNvPr id="4" name="Text 2"/>
          <p:cNvSpPr/>
          <p:nvPr/>
        </p:nvSpPr>
        <p:spPr>
          <a:xfrm>
            <a:off x="946150" y="1591270"/>
            <a:ext cx="12082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1</a:t>
            </a:r>
            <a:endParaRPr lang="en-US" sz="1200" dirty="0"/>
          </a:p>
        </p:txBody>
      </p:sp>
      <p:sp>
        <p:nvSpPr>
          <p:cNvPr id="5" name="Text 3"/>
          <p:cNvSpPr/>
          <p:nvPr/>
        </p:nvSpPr>
        <p:spPr>
          <a:xfrm>
            <a:off x="946150" y="1855391"/>
            <a:ext cx="12082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Input</a:t>
            </a:r>
            <a:endParaRPr lang="en-US" sz="1400" dirty="0"/>
          </a:p>
        </p:txBody>
      </p:sp>
      <p:sp>
        <p:nvSpPr>
          <p:cNvPr id="6" name="Shape 4"/>
          <p:cNvSpPr/>
          <p:nvPr/>
        </p:nvSpPr>
        <p:spPr>
          <a:xfrm>
            <a:off x="2341761" y="1461095"/>
            <a:ext cx="1417935" cy="737791"/>
          </a:xfrm>
          <a:prstGeom prst="roundRect">
            <a:avLst>
              <a:gd name="adj" fmla="val 13340"/>
            </a:avLst>
          </a:prstGeom>
          <a:solidFill>
            <a:srgbClr val="FFFFFF"/>
          </a:solidFill>
          <a:ln w="6350">
            <a:solidFill>
              <a:srgbClr val="D9DEE5"/>
            </a:solidFill>
            <a:prstDash val="solid"/>
          </a:ln>
        </p:spPr>
      </p:sp>
      <p:sp>
        <p:nvSpPr>
          <p:cNvPr id="7" name="Text 5"/>
          <p:cNvSpPr/>
          <p:nvPr/>
        </p:nvSpPr>
        <p:spPr>
          <a:xfrm>
            <a:off x="2471936" y="1591270"/>
            <a:ext cx="12083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2</a:t>
            </a:r>
            <a:endParaRPr lang="en-US" sz="1200" dirty="0"/>
          </a:p>
        </p:txBody>
      </p:sp>
      <p:sp>
        <p:nvSpPr>
          <p:cNvPr id="8" name="Text 6"/>
          <p:cNvSpPr/>
          <p:nvPr/>
        </p:nvSpPr>
        <p:spPr>
          <a:xfrm>
            <a:off x="2471936" y="1855391"/>
            <a:ext cx="120838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Normalise</a:t>
            </a:r>
            <a:endParaRPr lang="en-US" sz="1400" dirty="0"/>
          </a:p>
        </p:txBody>
      </p:sp>
      <p:sp>
        <p:nvSpPr>
          <p:cNvPr id="9" name="Shape 7"/>
          <p:cNvSpPr/>
          <p:nvPr/>
        </p:nvSpPr>
        <p:spPr>
          <a:xfrm>
            <a:off x="3867646" y="1461095"/>
            <a:ext cx="1417836" cy="737791"/>
          </a:xfrm>
          <a:prstGeom prst="roundRect">
            <a:avLst>
              <a:gd name="adj" fmla="val 13340"/>
            </a:avLst>
          </a:prstGeom>
          <a:solidFill>
            <a:srgbClr val="FFFFFF"/>
          </a:solidFill>
          <a:ln w="6350">
            <a:solidFill>
              <a:srgbClr val="D9DEE5"/>
            </a:solidFill>
            <a:prstDash val="solid"/>
          </a:ln>
        </p:spPr>
      </p:sp>
      <p:sp>
        <p:nvSpPr>
          <p:cNvPr id="10" name="Text 8"/>
          <p:cNvSpPr/>
          <p:nvPr/>
        </p:nvSpPr>
        <p:spPr>
          <a:xfrm>
            <a:off x="3997821" y="1591270"/>
            <a:ext cx="12082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3</a:t>
            </a:r>
            <a:endParaRPr lang="en-US" sz="1200" dirty="0"/>
          </a:p>
        </p:txBody>
      </p:sp>
      <p:sp>
        <p:nvSpPr>
          <p:cNvPr id="11" name="Text 9"/>
          <p:cNvSpPr/>
          <p:nvPr/>
        </p:nvSpPr>
        <p:spPr>
          <a:xfrm>
            <a:off x="3997821" y="1855391"/>
            <a:ext cx="12082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Detect</a:t>
            </a:r>
            <a:endParaRPr lang="en-US" sz="1400" dirty="0"/>
          </a:p>
        </p:txBody>
      </p:sp>
      <p:sp>
        <p:nvSpPr>
          <p:cNvPr id="12" name="Shape 10"/>
          <p:cNvSpPr/>
          <p:nvPr/>
        </p:nvSpPr>
        <p:spPr>
          <a:xfrm>
            <a:off x="5393432" y="1461095"/>
            <a:ext cx="1417935" cy="737791"/>
          </a:xfrm>
          <a:prstGeom prst="roundRect">
            <a:avLst>
              <a:gd name="adj" fmla="val 13340"/>
            </a:avLst>
          </a:prstGeom>
          <a:solidFill>
            <a:srgbClr val="FFFFFF"/>
          </a:solidFill>
          <a:ln w="6350">
            <a:solidFill>
              <a:srgbClr val="D9DEE5"/>
            </a:solidFill>
            <a:prstDash val="solid"/>
          </a:ln>
        </p:spPr>
      </p:sp>
      <p:sp>
        <p:nvSpPr>
          <p:cNvPr id="13" name="Text 11"/>
          <p:cNvSpPr/>
          <p:nvPr/>
        </p:nvSpPr>
        <p:spPr>
          <a:xfrm>
            <a:off x="5523607" y="1591270"/>
            <a:ext cx="120838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4</a:t>
            </a:r>
            <a:endParaRPr lang="en-US" sz="1200" dirty="0"/>
          </a:p>
        </p:txBody>
      </p:sp>
      <p:sp>
        <p:nvSpPr>
          <p:cNvPr id="14" name="Text 12"/>
          <p:cNvSpPr/>
          <p:nvPr/>
        </p:nvSpPr>
        <p:spPr>
          <a:xfrm>
            <a:off x="5523607" y="1855391"/>
            <a:ext cx="120838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Explain</a:t>
            </a:r>
            <a:endParaRPr lang="en-US" sz="1400" dirty="0"/>
          </a:p>
        </p:txBody>
      </p:sp>
      <p:sp>
        <p:nvSpPr>
          <p:cNvPr id="15" name="Shape 13"/>
          <p:cNvSpPr/>
          <p:nvPr/>
        </p:nvSpPr>
        <p:spPr>
          <a:xfrm>
            <a:off x="6919317" y="1461095"/>
            <a:ext cx="1417836" cy="737791"/>
          </a:xfrm>
          <a:prstGeom prst="roundRect">
            <a:avLst>
              <a:gd name="adj" fmla="val 13340"/>
            </a:avLst>
          </a:prstGeom>
          <a:solidFill>
            <a:srgbClr val="FFFFFF"/>
          </a:solidFill>
          <a:ln w="6350">
            <a:solidFill>
              <a:srgbClr val="D9DEE5"/>
            </a:solidFill>
            <a:prstDash val="solid"/>
          </a:ln>
        </p:spPr>
      </p:sp>
      <p:sp>
        <p:nvSpPr>
          <p:cNvPr id="16" name="Text 14"/>
          <p:cNvSpPr/>
          <p:nvPr/>
        </p:nvSpPr>
        <p:spPr>
          <a:xfrm>
            <a:off x="7049492" y="1591270"/>
            <a:ext cx="12082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5</a:t>
            </a:r>
            <a:endParaRPr lang="en-US" sz="1200" dirty="0"/>
          </a:p>
        </p:txBody>
      </p:sp>
      <p:sp>
        <p:nvSpPr>
          <p:cNvPr id="17" name="Text 15"/>
          <p:cNvSpPr/>
          <p:nvPr/>
        </p:nvSpPr>
        <p:spPr>
          <a:xfrm>
            <a:off x="7049492" y="1855391"/>
            <a:ext cx="12082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Advise</a:t>
            </a:r>
            <a:endParaRPr lang="en-US" sz="1400" dirty="0"/>
          </a:p>
        </p:txBody>
      </p:sp>
      <p:sp>
        <p:nvSpPr>
          <p:cNvPr id="19" name="Text 17"/>
          <p:cNvSpPr/>
          <p:nvPr/>
        </p:nvSpPr>
        <p:spPr>
          <a:xfrm>
            <a:off x="8568928" y="1584920"/>
            <a:ext cx="12082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6</a:t>
            </a:r>
            <a:endParaRPr lang="en-US" sz="1200" dirty="0">
              <a:solidFill>
                <a:srgbClr val="8A5200"/>
              </a:solidFill>
            </a:endParaRPr>
          </a:p>
        </p:txBody>
      </p:sp>
      <p:sp>
        <p:nvSpPr>
          <p:cNvPr id="21" name="Shape 19"/>
          <p:cNvSpPr/>
          <p:nvPr/>
        </p:nvSpPr>
        <p:spPr>
          <a:xfrm>
            <a:off x="9958189" y="1461095"/>
            <a:ext cx="1417836" cy="737791"/>
          </a:xfrm>
          <a:prstGeom prst="roundRect">
            <a:avLst>
              <a:gd name="adj" fmla="val 13340"/>
            </a:avLst>
          </a:prstGeom>
          <a:solidFill>
            <a:srgbClr val="FFFFFF"/>
          </a:solidFill>
          <a:ln w="6350">
            <a:solidFill>
              <a:srgbClr val="D9DEE5"/>
            </a:solidFill>
            <a:prstDash val="solid"/>
          </a:ln>
        </p:spPr>
      </p:sp>
      <p:sp>
        <p:nvSpPr>
          <p:cNvPr id="22" name="Text 20"/>
          <p:cNvSpPr/>
          <p:nvPr/>
        </p:nvSpPr>
        <p:spPr>
          <a:xfrm>
            <a:off x="10088364" y="1591270"/>
            <a:ext cx="120828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200"/>
                </a:solidFill>
                <a:latin typeface="DM Sans" pitchFamily="34" charset="0"/>
                <a:ea typeface="DM Sans" pitchFamily="34" charset="-122"/>
                <a:cs typeface="DM Sans" pitchFamily="34" charset="-120"/>
              </a:rPr>
              <a:t>7</a:t>
            </a:r>
            <a:endParaRPr lang="en-US" sz="1200" dirty="0"/>
          </a:p>
        </p:txBody>
      </p:sp>
      <p:sp>
        <p:nvSpPr>
          <p:cNvPr id="23" name="Text 21"/>
          <p:cNvSpPr/>
          <p:nvPr/>
        </p:nvSpPr>
        <p:spPr>
          <a:xfrm>
            <a:off x="10088364" y="1855391"/>
            <a:ext cx="120828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Report</a:t>
            </a:r>
            <a:endParaRPr lang="en-US" sz="1400" dirty="0"/>
          </a:p>
        </p:txBody>
      </p:sp>
      <p:sp>
        <p:nvSpPr>
          <p:cNvPr id="24" name="Shape 22"/>
          <p:cNvSpPr/>
          <p:nvPr/>
        </p:nvSpPr>
        <p:spPr>
          <a:xfrm>
            <a:off x="812800" y="2416671"/>
            <a:ext cx="254000" cy="38100"/>
          </a:xfrm>
          <a:prstGeom prst="rect">
            <a:avLst/>
          </a:prstGeom>
          <a:solidFill>
            <a:srgbClr val="0B2545"/>
          </a:solidFill>
          <a:ln/>
        </p:spPr>
      </p:sp>
      <p:sp>
        <p:nvSpPr>
          <p:cNvPr id="25" name="Text 23"/>
          <p:cNvSpPr/>
          <p:nvPr/>
        </p:nvSpPr>
        <p:spPr>
          <a:xfrm>
            <a:off x="1143000" y="2329061"/>
            <a:ext cx="13921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Expected output</a:t>
            </a:r>
            <a:endParaRPr lang="en-US" sz="1200" dirty="0"/>
          </a:p>
        </p:txBody>
      </p:sp>
      <p:sp>
        <p:nvSpPr>
          <p:cNvPr id="26" name="Shape 24"/>
          <p:cNvSpPr/>
          <p:nvPr/>
        </p:nvSpPr>
        <p:spPr>
          <a:xfrm>
            <a:off x="2535138" y="2416671"/>
            <a:ext cx="254000" cy="38100"/>
          </a:xfrm>
          <a:prstGeom prst="rect">
            <a:avLst/>
          </a:prstGeom>
          <a:solidFill>
            <a:srgbClr val="F5A623"/>
          </a:solidFill>
          <a:ln/>
        </p:spPr>
      </p:sp>
      <p:sp>
        <p:nvSpPr>
          <p:cNvPr id="27" name="Text 25"/>
          <p:cNvSpPr/>
          <p:nvPr/>
        </p:nvSpPr>
        <p:spPr>
          <a:xfrm>
            <a:off x="2865338" y="2329061"/>
            <a:ext cx="11599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Actual output</a:t>
            </a:r>
            <a:endParaRPr lang="en-US" sz="1200" dirty="0"/>
          </a:p>
        </p:txBody>
      </p:sp>
      <p:sp>
        <p:nvSpPr>
          <p:cNvPr id="28" name="Shape 26"/>
          <p:cNvSpPr/>
          <p:nvPr/>
        </p:nvSpPr>
        <p:spPr>
          <a:xfrm>
            <a:off x="4035127" y="2372221"/>
            <a:ext cx="254000" cy="127000"/>
          </a:xfrm>
          <a:prstGeom prst="rect">
            <a:avLst/>
          </a:prstGeom>
          <a:solidFill>
            <a:srgbClr val="FBE3B8"/>
          </a:solidFill>
          <a:ln/>
        </p:spPr>
      </p:sp>
      <p:sp>
        <p:nvSpPr>
          <p:cNvPr id="29" name="Text 27"/>
          <p:cNvSpPr/>
          <p:nvPr/>
        </p:nvSpPr>
        <p:spPr>
          <a:xfrm>
            <a:off x="4365327" y="2329061"/>
            <a:ext cx="9910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Lost energy</a:t>
            </a:r>
            <a:endParaRPr lang="en-US" sz="1200" dirty="0"/>
          </a:p>
        </p:txBody>
      </p:sp>
      <p:sp>
        <p:nvSpPr>
          <p:cNvPr id="30" name="Text 28"/>
          <p:cNvSpPr/>
          <p:nvPr/>
        </p:nvSpPr>
        <p:spPr>
          <a:xfrm>
            <a:off x="6807200" y="2329061"/>
            <a:ext cx="4572000" cy="238720"/>
          </a:xfrm>
          <a:prstGeom prst="rect">
            <a:avLst/>
          </a:prstGeom>
          <a:noFill/>
          <a:ln/>
        </p:spPr>
        <p:txBody>
          <a:bodyPr wrap="square" lIns="0" tIns="0" rIns="0" bIns="0" rtlCol="0" anchor="t">
            <a:normAutofit/>
          </a:bodyPr>
          <a:lstStyle/>
          <a:p>
            <a:pPr marL="0" indent="0" algn="r">
              <a:lnSpc>
                <a:spcPts val="1680"/>
              </a:lnSpc>
              <a:buNone/>
            </a:pPr>
            <a:r>
              <a:rPr lang="en-US" sz="1200" i="1" dirty="0">
                <a:solidFill>
                  <a:srgbClr val="5B6472"/>
                </a:solidFill>
                <a:latin typeface="DM Sans" pitchFamily="34" charset="0"/>
                <a:ea typeface="DM Sans" pitchFamily="34" charset="-122"/>
                <a:cs typeface="DM Sans" pitchFamily="34" charset="-120"/>
              </a:rPr>
              <a:t>Public dataset: Jaipur rooftop plant, 2022 [9]</a:t>
            </a:r>
            <a:endParaRPr lang="en-US" sz="1200" dirty="0"/>
          </a:p>
        </p:txBody>
      </p:sp>
      <p:pic>
        <p:nvPicPr>
          <p:cNvPr id="31" name="Image 0" descr="Chart of real data from a rooftop plant in Jaipur in 2022: expected and actual daily energy as seven-day averages. Actual falls below expected in May and June, recovers after heavy rain on 19 June, and drops to zero from 5 to 31 December."/>
          <p:cNvPicPr>
            <a:picLocks noChangeAspect="1"/>
          </p:cNvPicPr>
          <p:nvPr/>
        </p:nvPicPr>
        <p:blipFill>
          <a:blip r:embed="rId3"/>
          <a:srcRect/>
          <a:stretch/>
        </p:blipFill>
        <p:spPr>
          <a:xfrm>
            <a:off x="812800" y="2669381"/>
            <a:ext cx="10566400" cy="2743200"/>
          </a:xfrm>
          <a:prstGeom prst="rect">
            <a:avLst/>
          </a:prstGeom>
        </p:spPr>
      </p:pic>
      <p:sp>
        <p:nvSpPr>
          <p:cNvPr id="33" name="Text 30"/>
          <p:cNvSpPr/>
          <p:nvPr/>
        </p:nvSpPr>
        <p:spPr>
          <a:xfrm>
            <a:off x="7943088" y="5485733"/>
            <a:ext cx="3383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14B5A"/>
                </a:solidFill>
                <a:latin typeface="DM Sans" pitchFamily="34" charset="0"/>
                <a:ea typeface="DM Sans" pitchFamily="34" charset="-122"/>
                <a:cs typeface="DM Sans" pitchFamily="34" charset="-120"/>
              </a:rPr>
              <a:t>Zero output, 5 to 31 December: breakdown</a:t>
            </a:r>
            <a:endParaRPr lang="en-US" sz="1200" dirty="0"/>
          </a:p>
        </p:txBody>
      </p:sp>
      <p:sp>
        <p:nvSpPr>
          <p:cNvPr id="34" name="Text 31"/>
          <p:cNvSpPr/>
          <p:nvPr/>
        </p:nvSpPr>
        <p:spPr>
          <a:xfrm>
            <a:off x="4085190" y="5485733"/>
            <a:ext cx="384048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E7D5B"/>
                </a:solidFill>
                <a:latin typeface="DM Sans" pitchFamily="34" charset="0"/>
                <a:ea typeface="DM Sans" pitchFamily="34" charset="-122"/>
                <a:cs typeface="DM Sans" pitchFamily="34" charset="-120"/>
              </a:rPr>
              <a:t>Heavy rain, 19 June: output up 14% (range 6–22%)</a:t>
            </a:r>
            <a:endParaRPr lang="en-US" sz="1200" dirty="0"/>
          </a:p>
        </p:txBody>
      </p:sp>
      <p:sp>
        <p:nvSpPr>
          <p:cNvPr id="35" name="Text 3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No new hardware where the inverter already records generation</a:t>
            </a:r>
            <a:endParaRPr lang="en-US" sz="1200" dirty="0"/>
          </a:p>
        </p:txBody>
      </p:sp>
      <p:sp>
        <p:nvSpPr>
          <p:cNvPr id="36" name="Text 3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3 / 8</a:t>
            </a:r>
            <a:endParaRPr lang="en-US" sz="1200" dirty="0"/>
          </a:p>
        </p:txBody>
      </p:sp>
      <p:sp>
        <p:nvSpPr>
          <p:cNvPr id="38" name="Text 15"/>
          <p:cNvSpPr/>
          <p:nvPr/>
        </p:nvSpPr>
        <p:spPr>
          <a:xfrm>
            <a:off x="8568928" y="1855391"/>
            <a:ext cx="1208286" cy="238720"/>
          </a:xfrm>
          <a:prstGeom prst="rect">
            <a:avLst/>
          </a:prstGeom>
          <a:noFill/>
          <a:ln/>
        </p:spPr>
        <p:txBody>
          <a:bodyPr wrap="square" lIns="0" tIns="0" rIns="0" bIns="0" rtlCol="0" anchor="t">
            <a:normAutofit/>
          </a:bodyPr>
          <a:lstStyle/>
          <a:p>
            <a:pPr marL="0" indent="0" algn="l">
              <a:lnSpc>
                <a:spcPts val="1680"/>
              </a:lnSpc>
              <a:buNone/>
            </a:pPr>
            <a:r>
              <a:rPr lang="en-US" sz="1400" b="1" dirty="0" smtClean="0">
                <a:solidFill>
                  <a:srgbClr val="0B2545"/>
                </a:solidFill>
                <a:latin typeface="DM Sans" pitchFamily="34" charset="0"/>
                <a:ea typeface="DM Sans" pitchFamily="34" charset="-122"/>
                <a:cs typeface="DM Sans" pitchFamily="34" charset="-120"/>
              </a:rPr>
              <a:t>Verify</a:t>
            </a:r>
            <a:endParaRPr lang="en-US" sz="1400" dirty="0"/>
          </a:p>
        </p:txBody>
      </p:sp>
      <p:sp>
        <p:nvSpPr>
          <p:cNvPr id="39"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SOLUTION</a:t>
            </a:r>
            <a:r>
              <a:rPr lang="en-GB" sz="2200" b="1" dirty="0" smtClean="0">
                <a:solidFill>
                  <a:schemeClr val="tx1"/>
                </a:solidFill>
              </a:rPr>
              <a:t>:</a:t>
            </a:r>
            <a:endParaRPr lang="en-GB" sz="22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07641"/>
          </a:xfrm>
          <a:prstGeom prst="rect">
            <a:avLst/>
          </a:prstGeom>
          <a:noFill/>
          <a:ln/>
        </p:spPr>
        <p:txBody>
          <a:bodyPr wrap="square" lIns="0" tIns="0" rIns="0" bIns="0" rtlCol="0" anchor="t">
            <a:normAutofit/>
          </a:bodyPr>
          <a:lstStyle/>
          <a:p>
            <a:pPr marL="0" indent="0" algn="l">
              <a:lnSpc>
                <a:spcPts val="3080"/>
              </a:lnSpc>
              <a:buNone/>
            </a:pPr>
            <a:r>
              <a:rPr lang="en-US" b="1" dirty="0"/>
              <a:t>A</a:t>
            </a:r>
            <a:r>
              <a:rPr lang="en-US" sz="2800" b="1" i="0" dirty="0" smtClean="0">
                <a:solidFill>
                  <a:srgbClr val="0B2545"/>
                </a:solidFill>
                <a:latin typeface="DM Sans" pitchFamily="34" charset="0"/>
                <a:ea typeface="DM Sans" pitchFamily="34" charset="-122"/>
                <a:cs typeface="DM Sans" pitchFamily="34" charset="-120"/>
              </a:rPr>
              <a:t> </a:t>
            </a:r>
            <a:r>
              <a:rPr lang="en-US" sz="2800" b="1" i="0" dirty="0">
                <a:solidFill>
                  <a:srgbClr val="0B2545"/>
                </a:solidFill>
                <a:latin typeface="DM Sans" pitchFamily="34" charset="0"/>
                <a:ea typeface="DM Sans" pitchFamily="34" charset="-122"/>
                <a:cs typeface="DM Sans" pitchFamily="34" charset="-120"/>
              </a:rPr>
              <a:t>transparent pipeline from inverter data to an auditable report</a:t>
            </a:r>
            <a:endParaRPr lang="en-US" sz="2800" dirty="0"/>
          </a:p>
        </p:txBody>
      </p:sp>
      <p:sp>
        <p:nvSpPr>
          <p:cNvPr id="3" name="Shape 1"/>
          <p:cNvSpPr/>
          <p:nvPr/>
        </p:nvSpPr>
        <p:spPr>
          <a:xfrm>
            <a:off x="815975" y="1852216"/>
            <a:ext cx="6343650" cy="422870"/>
          </a:xfrm>
          <a:prstGeom prst="roundRect">
            <a:avLst>
              <a:gd name="adj" fmla="val 20272"/>
            </a:avLst>
          </a:prstGeom>
          <a:solidFill>
            <a:srgbClr val="FFFFFF"/>
          </a:solidFill>
          <a:ln w="6350">
            <a:solidFill>
              <a:srgbClr val="D9DEE5"/>
            </a:solidFill>
            <a:prstDash val="solid"/>
          </a:ln>
        </p:spPr>
      </p:sp>
      <p:sp>
        <p:nvSpPr>
          <p:cNvPr id="4" name="Text 2"/>
          <p:cNvSpPr/>
          <p:nvPr/>
        </p:nvSpPr>
        <p:spPr>
          <a:xfrm>
            <a:off x="996950" y="1956991"/>
            <a:ext cx="16383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Data sources</a:t>
            </a:r>
            <a:endParaRPr lang="en-US" sz="1400" dirty="0"/>
          </a:p>
        </p:txBody>
      </p:sp>
      <p:sp>
        <p:nvSpPr>
          <p:cNvPr id="5" name="Text 3"/>
          <p:cNvSpPr/>
          <p:nvPr/>
        </p:nvSpPr>
        <p:spPr>
          <a:xfrm>
            <a:off x="2736850" y="1956991"/>
            <a:ext cx="2954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Inverter data · site details · weather</a:t>
            </a:r>
            <a:endParaRPr lang="en-US" sz="1200" dirty="0"/>
          </a:p>
        </p:txBody>
      </p:sp>
      <p:pic>
        <p:nvPicPr>
          <p:cNvPr id="6" name="Image 0" descr="arrow-down"/>
          <p:cNvPicPr>
            <a:picLocks noChangeAspect="1"/>
          </p:cNvPicPr>
          <p:nvPr/>
        </p:nvPicPr>
        <p:blipFill>
          <a:blip r:embed="rId3"/>
          <a:srcRect/>
          <a:stretch/>
        </p:blipFill>
        <p:spPr>
          <a:xfrm>
            <a:off x="3898900" y="2329061"/>
            <a:ext cx="177800" cy="139700"/>
          </a:xfrm>
          <a:prstGeom prst="rect">
            <a:avLst/>
          </a:prstGeom>
        </p:spPr>
      </p:pic>
      <p:sp>
        <p:nvSpPr>
          <p:cNvPr id="7" name="Shape 4"/>
          <p:cNvSpPr/>
          <p:nvPr/>
        </p:nvSpPr>
        <p:spPr>
          <a:xfrm>
            <a:off x="815975" y="2522736"/>
            <a:ext cx="6343650" cy="422870"/>
          </a:xfrm>
          <a:prstGeom prst="roundRect">
            <a:avLst>
              <a:gd name="adj" fmla="val 20272"/>
            </a:avLst>
          </a:prstGeom>
          <a:solidFill>
            <a:srgbClr val="FFFFFF"/>
          </a:solidFill>
          <a:ln w="6350">
            <a:solidFill>
              <a:srgbClr val="D9DEE5"/>
            </a:solidFill>
            <a:prstDash val="solid"/>
          </a:ln>
        </p:spPr>
      </p:sp>
      <p:sp>
        <p:nvSpPr>
          <p:cNvPr id="8" name="Text 5"/>
          <p:cNvSpPr/>
          <p:nvPr/>
        </p:nvSpPr>
        <p:spPr>
          <a:xfrm>
            <a:off x="996950" y="2627511"/>
            <a:ext cx="16383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Ingestion</a:t>
            </a:r>
            <a:endParaRPr lang="en-US" sz="1400" dirty="0"/>
          </a:p>
        </p:txBody>
      </p:sp>
      <p:sp>
        <p:nvSpPr>
          <p:cNvPr id="9" name="Text 6"/>
          <p:cNvSpPr/>
          <p:nvPr/>
        </p:nvSpPr>
        <p:spPr>
          <a:xfrm>
            <a:off x="2736850" y="2627511"/>
            <a:ext cx="32777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Clean, align and gap-check time series</a:t>
            </a:r>
            <a:endParaRPr lang="en-US" sz="1200" dirty="0"/>
          </a:p>
        </p:txBody>
      </p:sp>
      <p:pic>
        <p:nvPicPr>
          <p:cNvPr id="10" name="Image 1" descr="arrow-down"/>
          <p:cNvPicPr>
            <a:picLocks noChangeAspect="1"/>
          </p:cNvPicPr>
          <p:nvPr/>
        </p:nvPicPr>
        <p:blipFill>
          <a:blip r:embed="rId3"/>
          <a:srcRect/>
          <a:stretch/>
        </p:blipFill>
        <p:spPr>
          <a:xfrm>
            <a:off x="3898900" y="2999581"/>
            <a:ext cx="177800" cy="139700"/>
          </a:xfrm>
          <a:prstGeom prst="rect">
            <a:avLst/>
          </a:prstGeom>
        </p:spPr>
      </p:pic>
      <p:sp>
        <p:nvSpPr>
          <p:cNvPr id="11" name="Shape 7"/>
          <p:cNvSpPr/>
          <p:nvPr/>
        </p:nvSpPr>
        <p:spPr>
          <a:xfrm>
            <a:off x="812800" y="3190081"/>
            <a:ext cx="6350000" cy="629841"/>
          </a:xfrm>
          <a:prstGeom prst="roundRect">
            <a:avLst>
              <a:gd name="adj" fmla="val 14115"/>
            </a:avLst>
          </a:prstGeom>
          <a:solidFill>
            <a:srgbClr val="0B2545"/>
          </a:solidFill>
          <a:ln/>
        </p:spPr>
      </p:sp>
      <p:sp>
        <p:nvSpPr>
          <p:cNvPr id="12" name="Text 8"/>
          <p:cNvSpPr/>
          <p:nvPr/>
        </p:nvSpPr>
        <p:spPr>
          <a:xfrm>
            <a:off x="990600" y="3398341"/>
            <a:ext cx="16383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5A623"/>
                </a:solidFill>
                <a:latin typeface="DM Sans" pitchFamily="34" charset="0"/>
                <a:ea typeface="DM Sans" pitchFamily="34" charset="-122"/>
                <a:cs typeface="DM Sans" pitchFamily="34" charset="-120"/>
              </a:rPr>
              <a:t>Core engine</a:t>
            </a:r>
            <a:endParaRPr lang="en-US" sz="1400" dirty="0"/>
          </a:p>
        </p:txBody>
      </p:sp>
      <p:sp>
        <p:nvSpPr>
          <p:cNvPr id="13" name="Text 9"/>
          <p:cNvSpPr/>
          <p:nvPr/>
        </p:nvSpPr>
        <p:spPr>
          <a:xfrm>
            <a:off x="2730500" y="3291681"/>
            <a:ext cx="438213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AFAF7"/>
                </a:solidFill>
                <a:latin typeface="DM Sans" pitchFamily="34" charset="0"/>
                <a:ea typeface="DM Sans" pitchFamily="34" charset="-122"/>
                <a:cs typeface="DM Sans" pitchFamily="34" charset="-120"/>
              </a:rPr>
              <a:t>Expected yield → performance ratio → loss with range → likely cause → cost of fix</a:t>
            </a:r>
            <a:endParaRPr lang="en-US" sz="1200" dirty="0"/>
          </a:p>
        </p:txBody>
      </p:sp>
      <p:pic>
        <p:nvPicPr>
          <p:cNvPr id="14" name="Image 2" descr="arrow-down"/>
          <p:cNvPicPr>
            <a:picLocks noChangeAspect="1"/>
          </p:cNvPicPr>
          <p:nvPr/>
        </p:nvPicPr>
        <p:blipFill>
          <a:blip r:embed="rId3"/>
          <a:srcRect/>
          <a:stretch/>
        </p:blipFill>
        <p:spPr>
          <a:xfrm>
            <a:off x="3898900" y="3870722"/>
            <a:ext cx="177800" cy="139700"/>
          </a:xfrm>
          <a:prstGeom prst="rect">
            <a:avLst/>
          </a:prstGeom>
        </p:spPr>
      </p:pic>
      <p:sp>
        <p:nvSpPr>
          <p:cNvPr id="15" name="Shape 10"/>
          <p:cNvSpPr/>
          <p:nvPr/>
        </p:nvSpPr>
        <p:spPr>
          <a:xfrm>
            <a:off x="819150" y="4067572"/>
            <a:ext cx="6337300" cy="429220"/>
          </a:xfrm>
          <a:prstGeom prst="roundRect">
            <a:avLst>
              <a:gd name="adj" fmla="val 19233"/>
            </a:avLst>
          </a:prstGeom>
          <a:solidFill>
            <a:srgbClr val="E7F2EC"/>
          </a:solidFill>
          <a:ln w="12700">
            <a:solidFill>
              <a:srgbClr val="2E7D5B"/>
            </a:solidFill>
            <a:prstDash val="solid"/>
          </a:ln>
        </p:spPr>
      </p:sp>
      <p:sp>
        <p:nvSpPr>
          <p:cNvPr id="16" name="Text 11"/>
          <p:cNvSpPr/>
          <p:nvPr/>
        </p:nvSpPr>
        <p:spPr>
          <a:xfrm>
            <a:off x="1003300" y="4175522"/>
            <a:ext cx="16383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F5C42"/>
                </a:solidFill>
                <a:latin typeface="DM Sans" pitchFamily="34" charset="0"/>
                <a:ea typeface="DM Sans" pitchFamily="34" charset="-122"/>
                <a:cs typeface="DM Sans" pitchFamily="34" charset="-120"/>
              </a:rPr>
              <a:t>Verification</a:t>
            </a:r>
            <a:endParaRPr lang="en-US" sz="1400" dirty="0"/>
          </a:p>
        </p:txBody>
      </p:sp>
      <p:sp>
        <p:nvSpPr>
          <p:cNvPr id="17" name="Text 12"/>
          <p:cNvSpPr/>
          <p:nvPr/>
        </p:nvSpPr>
        <p:spPr>
          <a:xfrm>
            <a:off x="2743200" y="4175522"/>
            <a:ext cx="366664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3B2E"/>
                </a:solidFill>
                <a:latin typeface="DM Sans" pitchFamily="34" charset="0"/>
                <a:ea typeface="DM Sans" pitchFamily="34" charset="-122"/>
                <a:cs typeface="DM Sans" pitchFamily="34" charset="-120"/>
              </a:rPr>
              <a:t>Before/after recovery around a dated event</a:t>
            </a:r>
            <a:endParaRPr lang="en-US" sz="1200" dirty="0"/>
          </a:p>
        </p:txBody>
      </p:sp>
      <p:pic>
        <p:nvPicPr>
          <p:cNvPr id="18" name="Image 3" descr="arrow-down"/>
          <p:cNvPicPr>
            <a:picLocks noChangeAspect="1"/>
          </p:cNvPicPr>
          <p:nvPr/>
        </p:nvPicPr>
        <p:blipFill>
          <a:blip r:embed="rId3"/>
          <a:srcRect/>
          <a:stretch/>
        </p:blipFill>
        <p:spPr>
          <a:xfrm>
            <a:off x="3898900" y="4553942"/>
            <a:ext cx="177800" cy="139700"/>
          </a:xfrm>
          <a:prstGeom prst="rect">
            <a:avLst/>
          </a:prstGeom>
        </p:spPr>
      </p:pic>
      <p:sp>
        <p:nvSpPr>
          <p:cNvPr id="19" name="Shape 13"/>
          <p:cNvSpPr/>
          <p:nvPr/>
        </p:nvSpPr>
        <p:spPr>
          <a:xfrm>
            <a:off x="815975" y="4747617"/>
            <a:ext cx="6343650" cy="422870"/>
          </a:xfrm>
          <a:prstGeom prst="roundRect">
            <a:avLst>
              <a:gd name="adj" fmla="val 20272"/>
            </a:avLst>
          </a:prstGeom>
          <a:solidFill>
            <a:srgbClr val="FFFFFF"/>
          </a:solidFill>
          <a:ln w="6350">
            <a:solidFill>
              <a:srgbClr val="D9DEE5"/>
            </a:solidFill>
            <a:prstDash val="solid"/>
          </a:ln>
        </p:spPr>
      </p:sp>
      <p:sp>
        <p:nvSpPr>
          <p:cNvPr id="20" name="Text 14"/>
          <p:cNvSpPr/>
          <p:nvPr/>
        </p:nvSpPr>
        <p:spPr>
          <a:xfrm>
            <a:off x="996950" y="4852392"/>
            <a:ext cx="1638300"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Outputs</a:t>
            </a:r>
            <a:endParaRPr lang="en-US" sz="1400" dirty="0"/>
          </a:p>
        </p:txBody>
      </p:sp>
      <p:sp>
        <p:nvSpPr>
          <p:cNvPr id="21" name="Text 15"/>
          <p:cNvSpPr/>
          <p:nvPr/>
        </p:nvSpPr>
        <p:spPr>
          <a:xfrm>
            <a:off x="2736850" y="4852392"/>
            <a:ext cx="34463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Owner alert · ranked list · recovery report</a:t>
            </a:r>
            <a:endParaRPr lang="en-US" sz="1200" dirty="0"/>
          </a:p>
        </p:txBody>
      </p:sp>
      <p:sp>
        <p:nvSpPr>
          <p:cNvPr id="22" name="Text 16"/>
          <p:cNvSpPr/>
          <p:nvPr/>
        </p:nvSpPr>
        <p:spPr>
          <a:xfrm>
            <a:off x="812800" y="5224463"/>
            <a:ext cx="6350000" cy="340320"/>
          </a:xfrm>
          <a:prstGeom prst="roundRect">
            <a:avLst>
              <a:gd name="adj" fmla="val 18659"/>
            </a:avLst>
          </a:prstGeom>
          <a:solidFill>
            <a:srgbClr val="EEF1F5"/>
          </a:solidFill>
          <a:ln/>
        </p:spPr>
        <p:txBody>
          <a:bodyPr wrap="square" lIns="16961" tIns="44901" rIns="16961" bIns="19501" rtlCol="0" anchor="t">
            <a:normAutofit/>
          </a:bodyPr>
          <a:lstStyle/>
          <a:p>
            <a:pPr marL="0" indent="0" algn="ctr">
              <a:lnSpc>
                <a:spcPts val="1680"/>
              </a:lnSpc>
              <a:buNone/>
            </a:pPr>
            <a:r>
              <a:rPr lang="en-US" sz="1200" dirty="0">
                <a:solidFill>
                  <a:srgbClr val="414B5A"/>
                </a:solidFill>
                <a:latin typeface="DM Sans" pitchFamily="34" charset="0"/>
                <a:ea typeface="DM Sans" pitchFamily="34" charset="-122"/>
                <a:cs typeface="DM Sans" pitchFamily="34" charset="-120"/>
              </a:rPr>
              <a:t>Data store: measurements, site details and dated events</a:t>
            </a:r>
            <a:endParaRPr lang="en-US" sz="1200" dirty="0"/>
          </a:p>
        </p:txBody>
      </p:sp>
      <p:sp>
        <p:nvSpPr>
          <p:cNvPr id="23" name="Shape 17"/>
          <p:cNvSpPr/>
          <p:nvPr/>
        </p:nvSpPr>
        <p:spPr>
          <a:xfrm>
            <a:off x="7315200" y="1849041"/>
            <a:ext cx="4064000" cy="3012281"/>
          </a:xfrm>
          <a:prstGeom prst="rect">
            <a:avLst/>
          </a:prstGeom>
          <a:solidFill>
            <a:srgbClr val="FFFFFF"/>
          </a:solidFill>
          <a:ln/>
        </p:spPr>
      </p:sp>
      <p:sp>
        <p:nvSpPr>
          <p:cNvPr id="24" name="Shape 18"/>
          <p:cNvSpPr/>
          <p:nvPr/>
        </p:nvSpPr>
        <p:spPr>
          <a:xfrm>
            <a:off x="11376025" y="1849041"/>
            <a:ext cx="0" cy="3012281"/>
          </a:xfrm>
          <a:prstGeom prst="line">
            <a:avLst/>
          </a:prstGeom>
          <a:noFill/>
          <a:ln w="6350">
            <a:solidFill>
              <a:srgbClr val="D9DEE5"/>
            </a:solidFill>
            <a:prstDash val="solid"/>
          </a:ln>
        </p:spPr>
      </p:sp>
      <p:sp>
        <p:nvSpPr>
          <p:cNvPr id="25" name="Shape 19"/>
          <p:cNvSpPr/>
          <p:nvPr/>
        </p:nvSpPr>
        <p:spPr>
          <a:xfrm>
            <a:off x="7315200" y="4858147"/>
            <a:ext cx="4064000" cy="0"/>
          </a:xfrm>
          <a:prstGeom prst="line">
            <a:avLst/>
          </a:prstGeom>
          <a:noFill/>
          <a:ln w="6350">
            <a:solidFill>
              <a:srgbClr val="D9DEE5"/>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27900" y="1861741"/>
          <a:ext cx="4044950" cy="2993229"/>
        </p:xfrm>
        <a:graphic>
          <a:graphicData uri="http://schemas.openxmlformats.org/drawingml/2006/table">
            <a:tbl>
              <a:tblPr/>
              <a:tblGrid>
                <a:gridCol w="1294384"/>
                <a:gridCol w="1860677"/>
                <a:gridCol w="889889"/>
              </a:tblGrid>
              <a:tr h="332581">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Layer</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Tech stack</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Phase</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Data</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Python, Pandas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Weather</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NASA POWER</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Yield model</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pvlib, calibrated</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Detection</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Statistics, ranges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Reports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Python PDF, CSV</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Backend</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FastAPI</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2</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Database</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PostgreSQL</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2</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Dashboard</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Streamlit, React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2</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7" name="Text 20"/>
          <p:cNvSpPr/>
          <p:nvPr/>
        </p:nvSpPr>
        <p:spPr>
          <a:xfrm>
            <a:off x="7315200" y="4962922"/>
            <a:ext cx="4185920"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14B5A"/>
                </a:solidFill>
                <a:latin typeface="DM Sans" pitchFamily="34" charset="0"/>
                <a:ea typeface="DM Sans" pitchFamily="34" charset="-122"/>
                <a:cs typeface="DM Sans" pitchFamily="34" charset="-120"/>
              </a:rPr>
              <a:t>Phase 1 is the submission prototype. Not used: deep learning or an LLM for diagnosis, or blockchain.</a:t>
            </a:r>
            <a:endParaRPr lang="en-US" sz="1200" dirty="0"/>
          </a:p>
        </p:txBody>
      </p:sp>
      <p:sp>
        <p:nvSpPr>
          <p:cNvPr id="28" name="Text 21"/>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Tools: pvlib [6], NASA POWER [7]</a:t>
            </a:r>
            <a:endParaRPr lang="en-US" sz="1200" dirty="0"/>
          </a:p>
        </p:txBody>
      </p:sp>
      <p:sp>
        <p:nvSpPr>
          <p:cNvPr id="29"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4 / 8</a:t>
            </a:r>
            <a:endParaRPr lang="en-US" sz="1200" dirty="0"/>
          </a:p>
        </p:txBody>
      </p:sp>
      <p:sp>
        <p:nvSpPr>
          <p:cNvPr id="30"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ARCHITECTURE AND TECH STACK</a:t>
            </a:r>
            <a:r>
              <a:rPr lang="en-GB" sz="2200" b="1" dirty="0" smtClean="0">
                <a:solidFill>
                  <a:schemeClr val="tx1"/>
                </a:solidFill>
              </a:rPr>
              <a:t>:</a:t>
            </a:r>
            <a:endParaRPr lang="en-GB" sz="22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545"/>
                </a:solidFill>
                <a:latin typeface="DM Sans" pitchFamily="34" charset="0"/>
                <a:ea typeface="DM Sans" pitchFamily="34" charset="-122"/>
                <a:cs typeface="DM Sans" pitchFamily="34" charset="-120"/>
              </a:rPr>
              <a:t>The gap is independent, uncertainty-aware verification for small systems</a:t>
            </a:r>
            <a:endParaRPr lang="en-US" sz="2800" dirty="0"/>
          </a:p>
        </p:txBody>
      </p:sp>
      <p:sp>
        <p:nvSpPr>
          <p:cNvPr id="3" name="Shape 1"/>
          <p:cNvSpPr/>
          <p:nvPr/>
        </p:nvSpPr>
        <p:spPr>
          <a:xfrm>
            <a:off x="815975" y="1852216"/>
            <a:ext cx="3384550" cy="1266031"/>
          </a:xfrm>
          <a:prstGeom prst="roundRect">
            <a:avLst>
              <a:gd name="adj" fmla="val 7774"/>
            </a:avLst>
          </a:prstGeom>
          <a:solidFill>
            <a:srgbClr val="FFFFFF"/>
          </a:solidFill>
          <a:ln w="6350">
            <a:solidFill>
              <a:srgbClr val="D9DEE5"/>
            </a:solidFill>
            <a:prstDash val="solid"/>
          </a:ln>
        </p:spPr>
      </p:sp>
      <p:sp>
        <p:nvSpPr>
          <p:cNvPr id="4" name="Text 2"/>
          <p:cNvSpPr/>
          <p:nvPr/>
        </p:nvSpPr>
        <p:spPr>
          <a:xfrm>
            <a:off x="1022350" y="2033191"/>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5B6472"/>
                </a:solidFill>
                <a:latin typeface="DM Sans" pitchFamily="34" charset="0"/>
                <a:ea typeface="DM Sans" pitchFamily="34" charset="-122"/>
                <a:cs typeface="DM Sans" pitchFamily="34" charset="-120"/>
              </a:rPr>
              <a:t>What exists</a:t>
            </a:r>
            <a:endParaRPr lang="en-US" sz="1400" dirty="0"/>
          </a:p>
        </p:txBody>
      </p:sp>
      <p:sp>
        <p:nvSpPr>
          <p:cNvPr id="5" name="Text 3"/>
          <p:cNvSpPr/>
          <p:nvPr/>
        </p:nvSpPr>
        <p:spPr>
          <a:xfrm>
            <a:off x="1022350" y="2297311"/>
            <a:ext cx="306095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Monitoring, fault alerts and yield estimates, sold by installers and hardware makers.</a:t>
            </a:r>
            <a:endParaRPr lang="en-US" sz="1200" dirty="0"/>
          </a:p>
        </p:txBody>
      </p:sp>
      <p:sp>
        <p:nvSpPr>
          <p:cNvPr id="6" name="Shape 4"/>
          <p:cNvSpPr/>
          <p:nvPr/>
        </p:nvSpPr>
        <p:spPr>
          <a:xfrm>
            <a:off x="4410075" y="1852216"/>
            <a:ext cx="3384550" cy="1266031"/>
          </a:xfrm>
          <a:prstGeom prst="roundRect">
            <a:avLst>
              <a:gd name="adj" fmla="val 7774"/>
            </a:avLst>
          </a:prstGeom>
          <a:solidFill>
            <a:srgbClr val="FFFFFF"/>
          </a:solidFill>
          <a:ln w="6350">
            <a:solidFill>
              <a:srgbClr val="D9DEE5"/>
            </a:solidFill>
            <a:prstDash val="solid"/>
          </a:ln>
        </p:spPr>
      </p:sp>
      <p:sp>
        <p:nvSpPr>
          <p:cNvPr id="7" name="Text 5"/>
          <p:cNvSpPr/>
          <p:nvPr/>
        </p:nvSpPr>
        <p:spPr>
          <a:xfrm>
            <a:off x="4616450" y="2033191"/>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A5200"/>
                </a:solidFill>
                <a:latin typeface="DM Sans" pitchFamily="34" charset="0"/>
                <a:ea typeface="DM Sans" pitchFamily="34" charset="-122"/>
                <a:cs typeface="DM Sans" pitchFamily="34" charset="-120"/>
              </a:rPr>
              <a:t>What is missing</a:t>
            </a:r>
            <a:endParaRPr lang="en-US" sz="1400" dirty="0"/>
          </a:p>
        </p:txBody>
      </p:sp>
      <p:sp>
        <p:nvSpPr>
          <p:cNvPr id="8" name="Text 6"/>
          <p:cNvSpPr/>
          <p:nvPr/>
        </p:nvSpPr>
        <p:spPr>
          <a:xfrm>
            <a:off x="4616450" y="229731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A neutral record of lost and recovered energy that states how sure it is.</a:t>
            </a:r>
            <a:endParaRPr lang="en-US" sz="1200" dirty="0"/>
          </a:p>
        </p:txBody>
      </p:sp>
      <p:sp>
        <p:nvSpPr>
          <p:cNvPr id="9" name="Shape 7"/>
          <p:cNvSpPr/>
          <p:nvPr/>
        </p:nvSpPr>
        <p:spPr>
          <a:xfrm>
            <a:off x="8001000" y="1849041"/>
            <a:ext cx="3378200" cy="1272381"/>
          </a:xfrm>
          <a:prstGeom prst="roundRect">
            <a:avLst>
              <a:gd name="adj" fmla="val 7985"/>
            </a:avLst>
          </a:prstGeom>
          <a:solidFill>
            <a:srgbClr val="0B2545"/>
          </a:solidFill>
          <a:ln/>
        </p:spPr>
      </p:sp>
      <p:sp>
        <p:nvSpPr>
          <p:cNvPr id="10" name="Text 8"/>
          <p:cNvSpPr/>
          <p:nvPr/>
        </p:nvSpPr>
        <p:spPr>
          <a:xfrm>
            <a:off x="8204200" y="2026841"/>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5A623"/>
                </a:solidFill>
                <a:latin typeface="DM Sans" pitchFamily="34" charset="0"/>
                <a:ea typeface="DM Sans" pitchFamily="34" charset="-122"/>
                <a:cs typeface="DM Sans" pitchFamily="34" charset="-120"/>
              </a:rPr>
              <a:t>What </a:t>
            </a:r>
            <a:r>
              <a:rPr lang="en-US" sz="1400" b="1" dirty="0">
                <a:solidFill>
                  <a:srgbClr val="F5A623"/>
                </a:solidFill>
                <a:latin typeface="DM Sans" pitchFamily="34" charset="0"/>
                <a:ea typeface="DM Sans" pitchFamily="34" charset="-122"/>
                <a:cs typeface="DM Sans" pitchFamily="34" charset="-120"/>
              </a:rPr>
              <a:t>I</a:t>
            </a:r>
            <a:r>
              <a:rPr lang="en-US" sz="1400" b="1" dirty="0" smtClean="0">
                <a:solidFill>
                  <a:srgbClr val="F5A623"/>
                </a:solidFill>
                <a:latin typeface="DM Sans" pitchFamily="34" charset="0"/>
                <a:ea typeface="DM Sans" pitchFamily="34" charset="-122"/>
                <a:cs typeface="DM Sans" pitchFamily="34" charset="-120"/>
              </a:rPr>
              <a:t> </a:t>
            </a:r>
            <a:r>
              <a:rPr lang="en-US" sz="1400" b="1" dirty="0">
                <a:solidFill>
                  <a:srgbClr val="F5A623"/>
                </a:solidFill>
                <a:latin typeface="DM Sans" pitchFamily="34" charset="0"/>
                <a:ea typeface="DM Sans" pitchFamily="34" charset="-122"/>
                <a:cs typeface="DM Sans" pitchFamily="34" charset="-120"/>
              </a:rPr>
              <a:t>add</a:t>
            </a:r>
            <a:endParaRPr lang="en-US" sz="1400" dirty="0"/>
          </a:p>
        </p:txBody>
      </p:sp>
      <p:sp>
        <p:nvSpPr>
          <p:cNvPr id="11" name="Text 9"/>
          <p:cNvSpPr/>
          <p:nvPr/>
        </p:nvSpPr>
        <p:spPr>
          <a:xfrm>
            <a:off x="8204200" y="2290961"/>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AFAF7"/>
                </a:solidFill>
                <a:latin typeface="DM Sans" pitchFamily="34" charset="0"/>
                <a:ea typeface="DM Sans" pitchFamily="34" charset="-122"/>
                <a:cs typeface="DM Sans" pitchFamily="34" charset="-120"/>
              </a:rPr>
              <a:t>Explainable loss estimates with ranges, and measured recovery after a dated fix.</a:t>
            </a:r>
            <a:endParaRPr lang="en-US" sz="1200" dirty="0"/>
          </a:p>
        </p:txBody>
      </p:sp>
      <p:sp>
        <p:nvSpPr>
          <p:cNvPr id="12" name="Shape 10"/>
          <p:cNvSpPr/>
          <p:nvPr/>
        </p:nvSpPr>
        <p:spPr>
          <a:xfrm>
            <a:off x="812800" y="3299222"/>
            <a:ext cx="10566400" cy="1681956"/>
          </a:xfrm>
          <a:prstGeom prst="rect">
            <a:avLst/>
          </a:prstGeom>
          <a:solidFill>
            <a:srgbClr val="FFFFFF"/>
          </a:solidFill>
          <a:ln/>
        </p:spPr>
      </p:sp>
      <p:sp>
        <p:nvSpPr>
          <p:cNvPr id="13" name="Shape 11"/>
          <p:cNvSpPr/>
          <p:nvPr/>
        </p:nvSpPr>
        <p:spPr>
          <a:xfrm>
            <a:off x="11376025" y="3299222"/>
            <a:ext cx="0" cy="1681956"/>
          </a:xfrm>
          <a:prstGeom prst="line">
            <a:avLst/>
          </a:prstGeom>
          <a:noFill/>
          <a:ln w="6350">
            <a:solidFill>
              <a:srgbClr val="D9DEE5"/>
            </a:solidFill>
            <a:prstDash val="solid"/>
          </a:ln>
        </p:spPr>
      </p:sp>
      <p:sp>
        <p:nvSpPr>
          <p:cNvPr id="14" name="Shape 12"/>
          <p:cNvSpPr/>
          <p:nvPr/>
        </p:nvSpPr>
        <p:spPr>
          <a:xfrm>
            <a:off x="812800" y="4978003"/>
            <a:ext cx="10566400" cy="0"/>
          </a:xfrm>
          <a:prstGeom prst="line">
            <a:avLst/>
          </a:prstGeom>
          <a:noFill/>
          <a:ln w="6350">
            <a:solidFill>
              <a:srgbClr val="D9DEE5"/>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311922"/>
          <a:ext cx="10547350" cy="1662905"/>
        </p:xfrm>
        <a:graphic>
          <a:graphicData uri="http://schemas.openxmlformats.org/drawingml/2006/table">
            <a:tbl>
              <a:tblPr/>
              <a:tblGrid>
                <a:gridCol w="3164205"/>
                <a:gridCol w="1476629"/>
                <a:gridCol w="1476629"/>
                <a:gridCol w="1476629"/>
                <a:gridCol w="1476629"/>
                <a:gridCol w="1476629"/>
              </a:tblGrid>
              <a:tr h="332581">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Option</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Cross-brand</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Independent</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States range</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Verifies fix</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c>
                  <a:txBody>
                    <a:bodyPr/>
                    <a:lstStyle/>
                    <a:p>
                      <a:pPr marL="0" indent="0">
                        <a:lnSpc>
                          <a:spcPts val="1680"/>
                        </a:lnSpc>
                        <a:buNone/>
                      </a:pPr>
                      <a:r>
                        <a:rPr lang="en-US" sz="1200" b="1" dirty="0">
                          <a:solidFill>
                            <a:srgbClr val="FAFAF7"/>
                          </a:solidFill>
                          <a:latin typeface="DM Sans" pitchFamily="34" charset="0"/>
                          <a:ea typeface="DM Sans" pitchFamily="34" charset="-122"/>
                          <a:cs typeface="DM Sans" pitchFamily="34" charset="-120"/>
                        </a:rPr>
                        <a:t>Small systems</a:t>
                      </a:r>
                      <a:endParaRPr lang="en-US" sz="1200" dirty="0">
                        <a:latin typeface="DM Sans" charset="0"/>
                        <a:ea typeface="DM Sans" charset="0"/>
                        <a:cs typeface="DM Sans" charset="0"/>
                      </a:endParaRPr>
                    </a:p>
                  </a:txBody>
                  <a:tcPr marL="53340" marR="53340" marT="53340" marB="53340">
                    <a:lnL w="12700" cap="flat" cmpd="sng" algn="ctr">
                      <a:solidFill>
                        <a:srgbClr val="0D213A"/>
                      </a:solidFill>
                      <a:prstDash val="solid"/>
                      <a:round/>
                      <a:headEnd type="none" w="med" len="med"/>
                      <a:tailEnd type="none" w="med" len="med"/>
                    </a:lnL>
                    <a:lnR w="12700" cap="flat" cmpd="sng" algn="ctr">
                      <a:solidFill>
                        <a:srgbClr val="0D213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0D213A"/>
                      </a:solidFill>
                      <a:prstDash val="solid"/>
                      <a:round/>
                      <a:headEnd type="none" w="med" len="med"/>
                      <a:tailEnd type="none" w="med" len="med"/>
                    </a:lnB>
                    <a:solidFill>
                      <a:srgbClr val="0B2545"/>
                    </a:solidFill>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Inverter-brand apps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D213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Jio SunGenie (gateway)</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Installer guarantee (SolarSquare)</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No</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581">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TrueYield (design goal)</a:t>
                      </a:r>
                      <a:endParaRPr lang="en-US" sz="1200" dirty="0">
                        <a:latin typeface="DM Sans" charset="0"/>
                        <a:ea typeface="DM Sans" charset="0"/>
                        <a:cs typeface="DM Sans"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AC0AA"/>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AC0AA"/>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AC0AA"/>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AC0AA"/>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c>
                  <a:txBody>
                    <a:bodyPr/>
                    <a:lstStyle/>
                    <a:p>
                      <a:pPr marL="0" indent="0">
                        <a:lnSpc>
                          <a:spcPts val="1680"/>
                        </a:lnSpc>
                        <a:buNone/>
                      </a:pPr>
                      <a:r>
                        <a:rPr lang="en-US" sz="1200" dirty="0">
                          <a:solidFill>
                            <a:srgbClr val="0B2545"/>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lnL w="12700" cap="flat" cmpd="sng" algn="ctr">
                      <a:solidFill>
                        <a:srgbClr val="CAC0AA"/>
                      </a:solidFill>
                      <a:prstDash val="solid"/>
                      <a:round/>
                      <a:headEnd type="none" w="med" len="med"/>
                      <a:tailEnd type="none" w="med" len="med"/>
                    </a:lnL>
                    <a:lnR w="12700" cap="flat" cmpd="sng" algn="ctr">
                      <a:solidFill>
                        <a:srgbClr val="CAC0A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AA"/>
                      </a:solidFill>
                      <a:prstDash val="solid"/>
                      <a:round/>
                      <a:headEnd type="none" w="med" len="med"/>
                      <a:tailEnd type="none" w="med" len="med"/>
                    </a:lnB>
                    <a:solidFill>
                      <a:srgbClr val="FDF0D5"/>
                    </a:solidFill>
                  </a:tcPr>
                </a:tc>
              </a:tr>
            </a:tbl>
          </a:graphicData>
        </a:graphic>
      </p:graphicFrame>
      <p:sp>
        <p:nvSpPr>
          <p:cNvPr id="16" name="Text 13"/>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 = not confirmed from public product pages [8]. To be verified.</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5 / 8</a:t>
            </a:r>
            <a:endParaRPr lang="en-US" sz="1200" dirty="0"/>
          </a:p>
        </p:txBody>
      </p:sp>
      <p:sp>
        <p:nvSpPr>
          <p:cNvPr id="18"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INNOVATION:</a:t>
            </a:r>
            <a:endParaRPr lang="en-GB" sz="22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545"/>
                </a:solidFill>
                <a:latin typeface="DM Sans" pitchFamily="34" charset="0"/>
                <a:ea typeface="DM Sans" pitchFamily="34" charset="-122"/>
                <a:cs typeface="DM Sans" pitchFamily="34" charset="-120"/>
              </a:rPr>
              <a:t>Impact is measured in kWh recovered, before and after a dated fix</a:t>
            </a:r>
            <a:endParaRPr lang="en-US" sz="2800" dirty="0"/>
          </a:p>
        </p:txBody>
      </p:sp>
      <p:sp>
        <p:nvSpPr>
          <p:cNvPr id="3" name="Shape 1"/>
          <p:cNvSpPr/>
          <p:nvPr/>
        </p:nvSpPr>
        <p:spPr>
          <a:xfrm>
            <a:off x="815975" y="1852216"/>
            <a:ext cx="5175250" cy="3000224"/>
          </a:xfrm>
          <a:prstGeom prst="roundRect">
            <a:avLst>
              <a:gd name="adj" fmla="val 4782"/>
            </a:avLst>
          </a:prstGeom>
          <a:solidFill>
            <a:srgbClr val="FFFFFF"/>
          </a:solidFill>
          <a:ln w="6350">
            <a:solidFill>
              <a:srgbClr val="D9DEE5"/>
            </a:solidFill>
            <a:prstDash val="solid"/>
          </a:ln>
        </p:spPr>
      </p:sp>
      <p:sp>
        <p:nvSpPr>
          <p:cNvPr id="4" name="Text 2"/>
          <p:cNvSpPr/>
          <p:nvPr/>
        </p:nvSpPr>
        <p:spPr>
          <a:xfrm>
            <a:off x="1022350" y="205859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545"/>
                </a:solidFill>
                <a:latin typeface="DM Sans" pitchFamily="34" charset="0"/>
                <a:ea typeface="DM Sans" pitchFamily="34" charset="-122"/>
                <a:cs typeface="DM Sans" pitchFamily="34" charset="-120"/>
              </a:rPr>
              <a:t>What we have built</a:t>
            </a:r>
            <a:endParaRPr lang="en-US" sz="1800" dirty="0"/>
          </a:p>
        </p:txBody>
      </p:sp>
      <p:sp>
        <p:nvSpPr>
          <p:cNvPr id="5" name="Text 3"/>
          <p:cNvSpPr/>
          <p:nvPr/>
        </p:nvSpPr>
        <p:spPr>
          <a:xfrm>
            <a:off x="1121156" y="2434431"/>
            <a:ext cx="4798949" cy="214884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1 rooftop system in Jaipur, Rajasthan: 12 months of daily data (2022)</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Detected loss: 8.4% (range 6.5–9.2%), about 14,900 kWh, most of it a 27-day breakdown in December. Rupee value: not available without a tariff</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Recovery test planned: one dated panel cleaning on an Indian rooftop, comparing 14 clear days before and after</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Data: public dataset, not our own system [9]</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Detection limit: about 9% over 14 days. Smaller losses are not claimed</a:t>
            </a:r>
            <a:endParaRPr lang="en-US" sz="1200" dirty="0"/>
          </a:p>
        </p:txBody>
      </p:sp>
      <p:sp>
        <p:nvSpPr>
          <p:cNvPr id="6" name="Shape 4"/>
          <p:cNvSpPr/>
          <p:nvPr/>
        </p:nvSpPr>
        <p:spPr>
          <a:xfrm>
            <a:off x="6200775" y="1852216"/>
            <a:ext cx="5175250" cy="3000224"/>
          </a:xfrm>
          <a:prstGeom prst="roundRect">
            <a:avLst>
              <a:gd name="adj" fmla="val 4782"/>
            </a:avLst>
          </a:prstGeom>
          <a:solidFill>
            <a:srgbClr val="FFFFFF"/>
          </a:solidFill>
          <a:ln w="6350">
            <a:solidFill>
              <a:srgbClr val="D9DEE5"/>
            </a:solidFill>
            <a:prstDash val="solid"/>
          </a:ln>
        </p:spPr>
      </p:sp>
      <p:sp>
        <p:nvSpPr>
          <p:cNvPr id="7" name="Text 5"/>
          <p:cNvSpPr/>
          <p:nvPr/>
        </p:nvSpPr>
        <p:spPr>
          <a:xfrm>
            <a:off x="6407150" y="2058591"/>
            <a:ext cx="490537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2545"/>
                </a:solidFill>
                <a:latin typeface="DM Sans" pitchFamily="34" charset="0"/>
                <a:ea typeface="DM Sans" pitchFamily="34" charset="-122"/>
                <a:cs typeface="DM Sans" pitchFamily="34" charset="-120"/>
              </a:rPr>
              <a:t>How we measure impact</a:t>
            </a:r>
            <a:endParaRPr lang="en-US" sz="1800" dirty="0"/>
          </a:p>
        </p:txBody>
      </p:sp>
      <p:sp>
        <p:nvSpPr>
          <p:cNvPr id="8" name="Text 6"/>
          <p:cNvSpPr/>
          <p:nvPr/>
        </p:nvSpPr>
        <p:spPr>
          <a:xfrm>
            <a:off x="6500316" y="2434431"/>
            <a:ext cx="4804589" cy="665361"/>
          </a:xfrm>
          <a:prstGeom prst="rect">
            <a:avLst/>
          </a:prstGeom>
          <a:noFill/>
          <a:ln/>
        </p:spPr>
        <p:txBody>
          <a:bodyPr wrap="square" lIns="0" tIns="0" rIns="0" bIns="0" rtlCol="0" anchor="t">
            <a:normAutofit/>
          </a:bodyPr>
          <a:lstStyle/>
          <a:p>
            <a:pPr marL="160834" indent="-160834" algn="l">
              <a:lnSpc>
                <a:spcPts val="1680"/>
              </a:lnSpc>
              <a:buSzPct val="100000"/>
              <a:buFontTx/>
              <a:buAutoNum type="arabicPeriod"/>
            </a:pPr>
            <a:r>
              <a:rPr lang="en-US" sz="1200" dirty="0">
                <a:solidFill>
                  <a:srgbClr val="414B5A"/>
                </a:solidFill>
                <a:latin typeface="DM Sans" pitchFamily="34" charset="0"/>
                <a:ea typeface="DM Sans" pitchFamily="34" charset="-122"/>
                <a:cs typeface="DM Sans" pitchFamily="34" charset="-120"/>
              </a:rPr>
              <a:t>Baseline: weather-adjusted output before the fix</a:t>
            </a:r>
            <a:endParaRPr lang="en-US" sz="1200" dirty="0"/>
          </a:p>
          <a:p>
            <a:pPr marL="160834" indent="-160834" algn="l">
              <a:lnSpc>
                <a:spcPts val="1680"/>
              </a:lnSpc>
              <a:buSzPct val="100000"/>
              <a:buFontTx/>
              <a:buAutoNum type="arabicPeriod"/>
            </a:pPr>
            <a:r>
              <a:rPr lang="en-US" sz="1200" dirty="0">
                <a:solidFill>
                  <a:srgbClr val="414B5A"/>
                </a:solidFill>
                <a:latin typeface="DM Sans" pitchFamily="34" charset="0"/>
                <a:ea typeface="DM Sans" pitchFamily="34" charset="-122"/>
                <a:cs typeface="DM Sans" pitchFamily="34" charset="-120"/>
              </a:rPr>
              <a:t>Event: a dated cleaning, repair or heavy rain</a:t>
            </a:r>
            <a:endParaRPr lang="en-US" sz="1200" dirty="0"/>
          </a:p>
          <a:p>
            <a:pPr marL="160834" indent="-160834" algn="l">
              <a:lnSpc>
                <a:spcPts val="1680"/>
              </a:lnSpc>
              <a:buSzPct val="100000"/>
              <a:buFontTx/>
              <a:buAutoNum type="arabicPeriod"/>
            </a:pPr>
            <a:r>
              <a:rPr lang="en-US" sz="1200" dirty="0">
                <a:solidFill>
                  <a:srgbClr val="414B5A"/>
                </a:solidFill>
                <a:latin typeface="DM Sans" pitchFamily="34" charset="0"/>
                <a:ea typeface="DM Sans" pitchFamily="34" charset="-122"/>
                <a:cs typeface="DM Sans" pitchFamily="34" charset="-120"/>
              </a:rPr>
              <a:t>Result: change in output, with a range</a:t>
            </a:r>
            <a:endParaRPr lang="en-US" sz="1200" dirty="0"/>
          </a:p>
        </p:txBody>
      </p:sp>
      <p:sp>
        <p:nvSpPr>
          <p:cNvPr id="9" name="Text 7"/>
          <p:cNvSpPr/>
          <p:nvPr/>
        </p:nvSpPr>
        <p:spPr>
          <a:xfrm>
            <a:off x="6407150" y="3175992"/>
            <a:ext cx="49053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14B5A"/>
                </a:solidFill>
                <a:latin typeface="DM Sans" pitchFamily="34" charset="0"/>
                <a:ea typeface="DM Sans" pitchFamily="34" charset="-122"/>
                <a:cs typeface="DM Sans" pitchFamily="34" charset="-120"/>
              </a:rPr>
              <a:t>Emissions = kWh recovered × grid emission factor [5]</a:t>
            </a:r>
            <a:endParaRPr lang="en-US" sz="1200" dirty="0"/>
          </a:p>
        </p:txBody>
      </p:sp>
      <p:sp>
        <p:nvSpPr>
          <p:cNvPr id="10" name="Text 8"/>
          <p:cNvSpPr/>
          <p:nvPr/>
        </p:nvSpPr>
        <p:spPr>
          <a:xfrm>
            <a:off x="6407150" y="3490913"/>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5C42"/>
                </a:solidFill>
                <a:latin typeface="DM Sans" pitchFamily="34" charset="0"/>
                <a:ea typeface="DM Sans" pitchFamily="34" charset="-122"/>
                <a:cs typeface="DM Sans" pitchFamily="34" charset="-120"/>
              </a:rPr>
              <a:t>Claimed today: estimated loss. Not yet: energy recovered.</a:t>
            </a:r>
            <a:endParaRPr lang="en-US" sz="1200" dirty="0"/>
          </a:p>
        </p:txBody>
      </p:sp>
      <p:sp>
        <p:nvSpPr>
          <p:cNvPr id="16" name="Text 14"/>
          <p:cNvSpPr/>
          <p:nvPr/>
        </p:nvSpPr>
        <p:spPr>
          <a:xfrm>
            <a:off x="6407150" y="3830217"/>
            <a:ext cx="4905375" cy="9144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14B5A"/>
                </a:solidFill>
                <a:latin typeface="DM Sans" pitchFamily="34" charset="0"/>
                <a:ea typeface="DM Sans" pitchFamily="34" charset="-122"/>
                <a:cs typeface="DM Sans" pitchFamily="34" charset="-120"/>
              </a:rPr>
              <a:t>Method check [10]: </a:t>
            </a:r>
            <a:r>
              <a:rPr lang="en-US" sz="1200" dirty="0">
                <a:solidFill>
                  <a:srgbClr val="414B5A"/>
                </a:solidFill>
                <a:latin typeface="DM Sans" pitchFamily="34" charset="0"/>
                <a:ea typeface="DM Sans" pitchFamily="34" charset="-122"/>
                <a:cs typeface="DM Sans" pitchFamily="34" charset="-120"/>
              </a:rPr>
              <a:t>on 4 years of public data from 3 Las Vegas systems, 85% of a known injected loss was recovered, inside the stated range. On the one-year Jaipur data the same check did not pass, so those figures are coarse.</a:t>
            </a:r>
            <a:endParaRPr lang="en-US" sz="1200" dirty="0"/>
          </a:p>
        </p:txBody>
      </p:sp>
      <p:sp>
        <p:nvSpPr>
          <p:cNvPr id="11" name="Shape 9"/>
          <p:cNvSpPr/>
          <p:nvPr/>
        </p:nvSpPr>
        <p:spPr>
          <a:xfrm>
            <a:off x="812800" y="5008015"/>
            <a:ext cx="10566400" cy="1048941"/>
          </a:xfrm>
          <a:prstGeom prst="roundRect">
            <a:avLst>
              <a:gd name="adj" fmla="val 9686"/>
            </a:avLst>
          </a:prstGeom>
          <a:solidFill>
            <a:srgbClr val="0B2545"/>
          </a:solidFill>
          <a:ln/>
        </p:spPr>
      </p:sp>
      <p:sp>
        <p:nvSpPr>
          <p:cNvPr id="12" name="Text 10"/>
          <p:cNvSpPr/>
          <p:nvPr/>
        </p:nvSpPr>
        <p:spPr>
          <a:xfrm>
            <a:off x="1016000" y="5160415"/>
            <a:ext cx="1014984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5A623"/>
                </a:solidFill>
                <a:latin typeface="DM Sans" pitchFamily="34" charset="0"/>
                <a:ea typeface="DM Sans" pitchFamily="34" charset="-122"/>
                <a:cs typeface="DM Sans" pitchFamily="34" charset="-120"/>
              </a:rPr>
              <a:t>ILLUSTRATION, NOT A RESULT</a:t>
            </a:r>
            <a:endParaRPr lang="en-US" sz="1200" dirty="0"/>
          </a:p>
        </p:txBody>
      </p:sp>
      <p:sp>
        <p:nvSpPr>
          <p:cNvPr id="13" name="Text 11"/>
          <p:cNvSpPr/>
          <p:nvPr/>
        </p:nvSpPr>
        <p:spPr>
          <a:xfrm>
            <a:off x="1016000" y="5424535"/>
            <a:ext cx="1014984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AFAF7"/>
                </a:solidFill>
                <a:latin typeface="DM Sans" pitchFamily="34" charset="0"/>
                <a:ea typeface="DM Sans" pitchFamily="34" charset="-122"/>
                <a:cs typeface="DM Sans" pitchFamily="34" charset="-120"/>
              </a:rPr>
              <a:t>A 50 kW rooftop at 15% capacity use yields about 65,700 kWh a year. Recovering a 15% loss returns about 9,900 kWh and about 7.5 tonnes of CO2 a year.</a:t>
            </a:r>
            <a:endParaRPr lang="en-US" sz="1400" dirty="0"/>
          </a:p>
        </p:txBody>
      </p:sp>
      <p:sp>
        <p:nvSpPr>
          <p:cNvPr id="14" name="Text 1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Illustration uses the capacity-use benchmark and emissions figure in CEEW 2026 [2]</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6 / 8</a:t>
            </a:r>
            <a:endParaRPr lang="en-US" sz="1200" dirty="0"/>
          </a:p>
        </p:txBody>
      </p:sp>
      <p:sp>
        <p:nvSpPr>
          <p:cNvPr id="17"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IMPACT AND VALIDATION:</a:t>
            </a:r>
            <a:endParaRPr lang="en-GB" sz="22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B2545"/>
                </a:solidFill>
                <a:latin typeface="DM Sans" pitchFamily="34" charset="0"/>
                <a:ea typeface="DM Sans" pitchFamily="34" charset="-122"/>
                <a:cs typeface="DM Sans" pitchFamily="34" charset="-120"/>
              </a:rPr>
              <a:t>A clear first user, a path to scale, and risks we already know</a:t>
            </a:r>
            <a:endParaRPr lang="en-US" sz="2800" dirty="0"/>
          </a:p>
        </p:txBody>
      </p:sp>
      <p:sp>
        <p:nvSpPr>
          <p:cNvPr id="3" name="Shape 1"/>
          <p:cNvSpPr/>
          <p:nvPr/>
        </p:nvSpPr>
        <p:spPr>
          <a:xfrm>
            <a:off x="815975" y="1461095"/>
            <a:ext cx="3384550" cy="2144713"/>
          </a:xfrm>
          <a:prstGeom prst="roundRect">
            <a:avLst>
              <a:gd name="adj" fmla="val 4589"/>
            </a:avLst>
          </a:prstGeom>
          <a:solidFill>
            <a:srgbClr val="FFFFFF"/>
          </a:solidFill>
          <a:ln w="6350">
            <a:solidFill>
              <a:srgbClr val="D9DEE5"/>
            </a:solidFill>
            <a:prstDash val="solid"/>
          </a:ln>
        </p:spPr>
      </p:sp>
      <p:sp>
        <p:nvSpPr>
          <p:cNvPr id="4" name="Text 2"/>
          <p:cNvSpPr/>
          <p:nvPr/>
        </p:nvSpPr>
        <p:spPr>
          <a:xfrm>
            <a:off x="1022350" y="1642070"/>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Who uses it, who pays</a:t>
            </a:r>
            <a:endParaRPr lang="en-US" sz="1400" dirty="0"/>
          </a:p>
        </p:txBody>
      </p:sp>
      <p:sp>
        <p:nvSpPr>
          <p:cNvPr id="5" name="Text 3"/>
          <p:cNvSpPr/>
          <p:nvPr/>
        </p:nvSpPr>
        <p:spPr>
          <a:xfrm>
            <a:off x="1121156" y="1931591"/>
            <a:ext cx="2954528" cy="151864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Users: small commercial rooftop owners and their installers, one city first</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Payer, to be validated: installer per system, or lender per asset</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Scale: software only, across inverter brands</a:t>
            </a:r>
            <a:endParaRPr lang="en-US" sz="1200" dirty="0"/>
          </a:p>
        </p:txBody>
      </p:sp>
      <p:sp>
        <p:nvSpPr>
          <p:cNvPr id="6" name="Shape 4"/>
          <p:cNvSpPr/>
          <p:nvPr/>
        </p:nvSpPr>
        <p:spPr>
          <a:xfrm>
            <a:off x="4410075" y="1461095"/>
            <a:ext cx="3384550" cy="2144713"/>
          </a:xfrm>
          <a:prstGeom prst="roundRect">
            <a:avLst>
              <a:gd name="adj" fmla="val 4589"/>
            </a:avLst>
          </a:prstGeom>
          <a:solidFill>
            <a:srgbClr val="FFFFFF"/>
          </a:solidFill>
          <a:ln w="6350">
            <a:solidFill>
              <a:srgbClr val="D9DEE5"/>
            </a:solidFill>
            <a:prstDash val="solid"/>
          </a:ln>
        </p:spPr>
      </p:sp>
      <p:sp>
        <p:nvSpPr>
          <p:cNvPr id="7" name="Text 5"/>
          <p:cNvSpPr/>
          <p:nvPr/>
        </p:nvSpPr>
        <p:spPr>
          <a:xfrm>
            <a:off x="4616450" y="1642070"/>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B2545"/>
                </a:solidFill>
                <a:latin typeface="DM Sans" pitchFamily="34" charset="0"/>
                <a:ea typeface="DM Sans" pitchFamily="34" charset="-122"/>
                <a:cs typeface="DM Sans" pitchFamily="34" charset="-120"/>
              </a:rPr>
              <a:t>Risks and our response</a:t>
            </a:r>
            <a:endParaRPr lang="en-US" sz="1400" dirty="0"/>
          </a:p>
        </p:txBody>
      </p:sp>
      <p:sp>
        <p:nvSpPr>
          <p:cNvPr id="8" name="Text 6"/>
          <p:cNvSpPr/>
          <p:nvPr/>
        </p:nvSpPr>
        <p:spPr>
          <a:xfrm>
            <a:off x="4715256" y="1931591"/>
            <a:ext cx="2954528" cy="1305322"/>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Weather-data error can hide small losses: every figure carries a range</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Inverter data access: start with brands that export data</a:t>
            </a:r>
            <a:endParaRPr lang="en-US" sz="1200" dirty="0"/>
          </a:p>
          <a:p>
            <a:pPr marL="155194" indent="-155194" algn="l">
              <a:lnSpc>
                <a:spcPts val="1680"/>
              </a:lnSpc>
              <a:buSzPct val="100000"/>
              <a:buChar char="•"/>
            </a:pPr>
            <a:r>
              <a:rPr lang="en-US" sz="1200" dirty="0">
                <a:solidFill>
                  <a:srgbClr val="414B5A"/>
                </a:solidFill>
                <a:latin typeface="DM Sans" pitchFamily="34" charset="0"/>
                <a:ea typeface="DM Sans" pitchFamily="34" charset="-122"/>
                <a:cs typeface="DM Sans" pitchFamily="34" charset="-120"/>
              </a:rPr>
              <a:t>Free basic alerts elsewhere: we verify, not just monitor</a:t>
            </a:r>
            <a:endParaRPr lang="en-US" sz="1200" dirty="0"/>
          </a:p>
        </p:txBody>
      </p:sp>
      <p:sp>
        <p:nvSpPr>
          <p:cNvPr id="12" name="Shape 10"/>
          <p:cNvSpPr/>
          <p:nvPr/>
        </p:nvSpPr>
        <p:spPr>
          <a:xfrm>
            <a:off x="812800" y="3761383"/>
            <a:ext cx="10566400" cy="731441"/>
          </a:xfrm>
          <a:prstGeom prst="roundRect">
            <a:avLst>
              <a:gd name="adj" fmla="val 13890"/>
            </a:avLst>
          </a:prstGeom>
          <a:solidFill>
            <a:srgbClr val="EEF1F5"/>
          </a:solidFill>
          <a:ln/>
        </p:spPr>
      </p:sp>
      <p:sp>
        <p:nvSpPr>
          <p:cNvPr id="13" name="Text 11"/>
          <p:cNvSpPr/>
          <p:nvPr/>
        </p:nvSpPr>
        <p:spPr>
          <a:xfrm>
            <a:off x="1016000" y="3888383"/>
            <a:ext cx="104648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A5200"/>
                </a:solidFill>
                <a:latin typeface="DM Sans" pitchFamily="34" charset="0"/>
                <a:ea typeface="DM Sans" pitchFamily="34" charset="-122"/>
                <a:cs typeface="DM Sans" pitchFamily="34" charset="-120"/>
              </a:rPr>
              <a:t>FUTURE USES OF THE SAME RECORD</a:t>
            </a:r>
            <a:endParaRPr lang="en-US" sz="1200" dirty="0"/>
          </a:p>
        </p:txBody>
      </p:sp>
      <p:sp>
        <p:nvSpPr>
          <p:cNvPr id="14" name="Text 12"/>
          <p:cNvSpPr/>
          <p:nvPr/>
        </p:nvSpPr>
        <p:spPr>
          <a:xfrm>
            <a:off x="1016000" y="4152503"/>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2545"/>
                </a:solidFill>
                <a:latin typeface="DM Sans" pitchFamily="34" charset="0"/>
                <a:ea typeface="DM Sans" pitchFamily="34" charset="-122"/>
                <a:cs typeface="DM Sans" pitchFamily="34" charset="-120"/>
              </a:rPr>
              <a:t>Lender view of financed solar · results-linked maintenance · idle solar pumps · savings checks on efficiency loans</a:t>
            </a:r>
            <a:endParaRPr lang="en-US" sz="1200" dirty="0"/>
          </a:p>
        </p:txBody>
      </p:sp>
      <p:sp>
        <p:nvSpPr>
          <p:cNvPr id="15" name="Text 13"/>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Business model is a hypothesis; interviews follow the submission</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7 / 8</a:t>
            </a:r>
            <a:endParaRPr lang="en-US" sz="1200" dirty="0"/>
          </a:p>
        </p:txBody>
      </p:sp>
      <p:sp>
        <p:nvSpPr>
          <p:cNvPr id="17" name="Shape 4"/>
          <p:cNvSpPr/>
          <p:nvPr/>
        </p:nvSpPr>
        <p:spPr>
          <a:xfrm>
            <a:off x="8001000" y="1460352"/>
            <a:ext cx="3384550" cy="2144713"/>
          </a:xfrm>
          <a:prstGeom prst="roundRect">
            <a:avLst>
              <a:gd name="adj" fmla="val 4589"/>
            </a:avLst>
          </a:prstGeom>
          <a:solidFill>
            <a:srgbClr val="FFFFFF"/>
          </a:solidFill>
          <a:ln w="6350">
            <a:solidFill>
              <a:srgbClr val="D9DEE5"/>
            </a:solidFill>
            <a:prstDash val="solid"/>
          </a:ln>
        </p:spPr>
      </p:sp>
      <p:sp>
        <p:nvSpPr>
          <p:cNvPr id="18" name="Text 5"/>
          <p:cNvSpPr/>
          <p:nvPr/>
        </p:nvSpPr>
        <p:spPr>
          <a:xfrm>
            <a:off x="8212836" y="1642070"/>
            <a:ext cx="3060954" cy="238720"/>
          </a:xfrm>
          <a:prstGeom prst="rect">
            <a:avLst/>
          </a:prstGeom>
          <a:noFill/>
          <a:ln/>
        </p:spPr>
        <p:txBody>
          <a:bodyPr wrap="square" lIns="0" tIns="0" rIns="0" bIns="0" rtlCol="0" anchor="t">
            <a:normAutofit/>
          </a:bodyPr>
          <a:lstStyle/>
          <a:p>
            <a:pPr marL="0" indent="0" algn="l">
              <a:lnSpc>
                <a:spcPts val="1680"/>
              </a:lnSpc>
              <a:buNone/>
            </a:pPr>
            <a:r>
              <a:rPr lang="en-US" sz="1400" b="1" dirty="0" smtClean="0">
                <a:solidFill>
                  <a:srgbClr val="0B2545"/>
                </a:solidFill>
                <a:latin typeface="DM Sans" pitchFamily="34" charset="0"/>
                <a:ea typeface="DM Sans" pitchFamily="34" charset="-122"/>
                <a:cs typeface="DM Sans" pitchFamily="34" charset="-120"/>
              </a:rPr>
              <a:t>Team and Ask</a:t>
            </a:r>
            <a:endParaRPr lang="en-US" sz="1400" dirty="0"/>
          </a:p>
        </p:txBody>
      </p:sp>
      <p:sp>
        <p:nvSpPr>
          <p:cNvPr id="11" name="Text 9"/>
          <p:cNvSpPr/>
          <p:nvPr/>
        </p:nvSpPr>
        <p:spPr>
          <a:xfrm>
            <a:off x="8266049" y="1931591"/>
            <a:ext cx="2954528" cy="878681"/>
          </a:xfrm>
          <a:prstGeom prst="rect">
            <a:avLst/>
          </a:prstGeom>
          <a:noFill/>
          <a:ln/>
        </p:spPr>
        <p:txBody>
          <a:bodyPr wrap="square" lIns="0" tIns="0" rIns="0" bIns="0" rtlCol="0" anchor="t">
            <a:normAutofit fontScale="85000" lnSpcReduction="10000"/>
          </a:bodyPr>
          <a:lstStyle/>
          <a:p>
            <a:pPr marL="155194" indent="-155194" algn="l">
              <a:lnSpc>
                <a:spcPts val="1680"/>
              </a:lnSpc>
              <a:buSzPct val="100000"/>
              <a:buChar char="•"/>
            </a:pPr>
            <a:r>
              <a:rPr lang="en-US" sz="1200" dirty="0">
                <a:latin typeface="DM Sans" pitchFamily="34" charset="0"/>
                <a:ea typeface="DM Sans" pitchFamily="34" charset="-122"/>
                <a:cs typeface="DM Sans" pitchFamily="34" charset="-120"/>
              </a:rPr>
              <a:t>Raghav Rege, B.Tech CSE, 3rd year, SRM Institute of Science and Technology (solo entry)</a:t>
            </a:r>
            <a:endParaRPr lang="en-US" sz="1200" dirty="0"/>
          </a:p>
          <a:p>
            <a:pPr marL="155194" indent="-155194" algn="l">
              <a:lnSpc>
                <a:spcPts val="1680"/>
              </a:lnSpc>
              <a:buSzPct val="100000"/>
              <a:buChar char="•"/>
            </a:pPr>
            <a:r>
              <a:rPr lang="en-US" sz="1200" dirty="0">
                <a:latin typeface="DM Sans" pitchFamily="34" charset="0"/>
                <a:ea typeface="DM Sans" pitchFamily="34" charset="-122"/>
                <a:cs typeface="DM Sans" pitchFamily="34" charset="-120"/>
              </a:rPr>
              <a:t>Ask: mentorship, pilot rooftops and data partners</a:t>
            </a:r>
            <a:endParaRPr lang="en-US" sz="1200" dirty="0"/>
          </a:p>
        </p:txBody>
      </p:sp>
      <p:sp>
        <p:nvSpPr>
          <p:cNvPr id="19"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ADOPTION, SCALE AND RISKS</a:t>
            </a:r>
            <a:r>
              <a:rPr lang="en-GB" sz="2200" b="1" dirty="0" smtClean="0">
                <a:solidFill>
                  <a:schemeClr val="tx1"/>
                </a:solidFill>
              </a:rPr>
              <a:t>:</a:t>
            </a:r>
            <a:endParaRPr lang="en-GB" sz="22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9"/>
          <p:cNvSpPr/>
          <p:nvPr/>
        </p:nvSpPr>
        <p:spPr>
          <a:xfrm>
            <a:off x="812800" y="1916755"/>
            <a:ext cx="9637486" cy="3121348"/>
          </a:xfrm>
          <a:prstGeom prst="roundRect">
            <a:avLst>
              <a:gd name="adj" fmla="val 9686"/>
            </a:avLst>
          </a:prstGeom>
          <a:solidFill>
            <a:schemeClr val="bg2"/>
          </a:solidFill>
          <a:ln/>
        </p:spPr>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8</a:t>
            </a:r>
            <a:r>
              <a:rPr lang="en-US" sz="1200" dirty="0" smtClean="0">
                <a:solidFill>
                  <a:srgbClr val="5B6472"/>
                </a:solidFill>
                <a:latin typeface="DM Sans" pitchFamily="34" charset="0"/>
                <a:ea typeface="DM Sans" pitchFamily="34" charset="-122"/>
                <a:cs typeface="DM Sans" pitchFamily="34" charset="-120"/>
              </a:rPr>
              <a:t> </a:t>
            </a:r>
            <a:r>
              <a:rPr lang="en-US" sz="1200" dirty="0">
                <a:solidFill>
                  <a:srgbClr val="5B6472"/>
                </a:solidFill>
                <a:latin typeface="DM Sans" pitchFamily="34" charset="0"/>
                <a:ea typeface="DM Sans" pitchFamily="34" charset="-122"/>
                <a:cs typeface="DM Sans" pitchFamily="34" charset="-120"/>
              </a:rPr>
              <a:t>/ 8</a:t>
            </a:r>
            <a:endParaRPr lang="en-US" sz="1200" dirty="0"/>
          </a:p>
        </p:txBody>
      </p:sp>
      <p:sp>
        <p:nvSpPr>
          <p:cNvPr id="19" name="Text 0"/>
          <p:cNvSpPr>
            <a:spLocks noGrp="1"/>
          </p:cNvSpPr>
          <p:nvPr>
            <p:ph type="title"/>
          </p:nvPr>
        </p:nvSpPr>
        <p:spPr>
          <a:xfrm>
            <a:off x="812800" y="81280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chemeClr val="tx1"/>
                </a:solidFill>
              </a:rPr>
              <a:t>Every figure in this deck traces to a source</a:t>
            </a:r>
            <a:endParaRPr lang="en-US" sz="2800" dirty="0">
              <a:solidFill>
                <a:schemeClr val="tx1"/>
              </a:solidFill>
            </a:endParaRPr>
          </a:p>
        </p:txBody>
      </p:sp>
      <p:sp>
        <p:nvSpPr>
          <p:cNvPr id="21" name="Shape 1"/>
          <p:cNvSpPr/>
          <p:nvPr/>
        </p:nvSpPr>
        <p:spPr>
          <a:xfrm>
            <a:off x="812800" y="1330920"/>
            <a:ext cx="1016000" cy="50800"/>
          </a:xfrm>
          <a:prstGeom prst="rect">
            <a:avLst/>
          </a:prstGeom>
          <a:solidFill>
            <a:srgbClr val="F5A623"/>
          </a:solidFill>
          <a:ln/>
        </p:spPr>
      </p:sp>
      <p:sp>
        <p:nvSpPr>
          <p:cNvPr id="20" name="Text 2"/>
          <p:cNvSpPr/>
          <p:nvPr/>
        </p:nvSpPr>
        <p:spPr>
          <a:xfrm>
            <a:off x="966071" y="2216306"/>
            <a:ext cx="10788261" cy="2423160"/>
          </a:xfrm>
          <a:prstGeom prst="rect">
            <a:avLst/>
          </a:prstGeom>
          <a:noFill/>
          <a:ln/>
        </p:spPr>
        <p:txBody>
          <a:bodyPr wrap="square" lIns="0" tIns="0" rIns="0" bIns="0" rtlCol="0" anchor="t">
            <a:normAutofit/>
          </a:bodyPr>
          <a:lstStyle/>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CEEW (Nov 2023). kWh from kW: Achieving Optimum Energy Generation from Rooftop Solar Systems. ceew.in</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CEEW (Jun 2026). Maximising Rooftop Solar Performance by Enabling a Robust O&amp;M Ecosystem. ceew.in</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MNRE. PM Surya Ghar progress figures, as reported August 2026. [verify]</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CRISIL and Bridge to India. Rooftop Map, June 2025, as reported by Solar Quarter.</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Central Electricity Authority. CO2 Baseline Database for the Indian Power Sector. cea.nic.in</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pvlib python. Open-source solar modelling library. pvlib-python.readthedocs.io</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NASA POWER. Solar and meteorological data. power.larc.nasa.gov</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Public product pages: Jio SunGenie, SolarSquare, inverter-brand apps. [verify]</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Parashar, B. and Verma, R. (2024). Solar Panel Data (rooftop plant, Jaipur). Mendeley Data, V1. doi:10.17632/82jswfyz5p.1. CC BY 4.0.</a:t>
            </a:r>
            <a:endParaRPr lang="en-US" sz="1200" dirty="0"/>
          </a:p>
          <a:p>
            <a:pPr marL="256032" indent="-256032" algn="l">
              <a:lnSpc>
                <a:spcPts val="1860"/>
              </a:lnSpc>
              <a:buSzPct val="100000"/>
              <a:buFontTx/>
              <a:buAutoNum type="arabicPeriod"/>
            </a:pPr>
            <a:r>
              <a:rPr lang="en-US" sz="1200" dirty="0">
                <a:latin typeface="DM Sans" pitchFamily="34" charset="0"/>
                <a:ea typeface="DM Sans" pitchFamily="34" charset="-122"/>
                <a:cs typeface="DM Sans" pitchFamily="34" charset="-120"/>
              </a:rPr>
              <a:t>Deline, C. et al. (2021). Photovoltaic Data Acquisition (PVDAQ) Public Datasets. NREL, OEDI. doi:10.25984/1846021. CC BY 4.0.</a:t>
            </a:r>
            <a:endParaRPr lang="en-US" sz="1200" dirty="0"/>
          </a:p>
        </p:txBody>
      </p:sp>
      <p:sp>
        <p:nvSpPr>
          <p:cNvPr id="24" name="Text 1"/>
          <p:cNvSpPr txBox="1">
            <a:spLocks/>
          </p:cNvSpPr>
          <p:nvPr/>
        </p:nvSpPr>
        <p:spPr>
          <a:xfrm>
            <a:off x="819150" y="61715"/>
            <a:ext cx="5624830" cy="304204"/>
          </a:xfrm>
          <a:prstGeom prst="rect">
            <a:avLst/>
          </a:prstGeom>
          <a:noFill/>
          <a:ln/>
        </p:spPr>
        <p:txBody>
          <a:bodyPr wrap="square" lIns="0" tIns="0" rIns="0" bIns="0" rtlCol="0" anchor="t">
            <a:noAutofit/>
          </a:bodyPr>
          <a:lstStyle>
            <a:lvl1pPr marL="0" indent="0" algn="l" defTabSz="914400" rtl="0" eaLnBrk="1" latinLnBrk="0" hangingPunct="1">
              <a:lnSpc>
                <a:spcPct val="115000"/>
              </a:lnSpc>
              <a:spcBef>
                <a:spcPct val="0"/>
              </a:spcBef>
              <a:buNone/>
              <a:defRPr lang="en-US" sz="2800" kern="1200" dirty="0">
                <a:solidFill>
                  <a:srgbClr val="0B2545"/>
                </a:solidFill>
                <a:latin typeface="DM Sans" pitchFamily="34" charset="0"/>
                <a:ea typeface="DM Sans" pitchFamily="34" charset="-122"/>
                <a:cs typeface="DM Sans" pitchFamily="34" charset="-120"/>
              </a:defRPr>
            </a:lvl1pPr>
          </a:lstStyle>
          <a:p>
            <a:pPr>
              <a:lnSpc>
                <a:spcPts val="6300"/>
              </a:lnSpc>
            </a:pPr>
            <a:r>
              <a:rPr lang="en-GB" sz="2200" b="1" dirty="0" smtClean="0">
                <a:solidFill>
                  <a:schemeClr val="tx1"/>
                </a:solidFill>
                <a:latin typeface="+mj-lt"/>
                <a:ea typeface="Segoe UI Black" panose="020B0A02040204020203" pitchFamily="34" charset="0"/>
              </a:rPr>
              <a:t>REFERENCES</a:t>
            </a:r>
            <a:r>
              <a:rPr lang="en-GB" sz="2200" b="1" dirty="0" smtClean="0">
                <a:solidFill>
                  <a:schemeClr val="tx1"/>
                </a:solidFill>
              </a:rPr>
              <a:t>:</a:t>
            </a:r>
            <a:endParaRPr lang="en-GB" sz="2200" dirty="0">
              <a:solidFill>
                <a:schemeClr val="tx1"/>
              </a:solidFill>
            </a:endParaRPr>
          </a:p>
        </p:txBody>
      </p:sp>
    </p:spTree>
    <p:extLst>
      <p:ext uri="{BB962C8B-B14F-4D97-AF65-F5344CB8AC3E}">
        <p14:creationId xmlns:p14="http://schemas.microsoft.com/office/powerpoint/2010/main" val="3927227679"/>
      </p:ext>
    </p:extLst>
  </p:cSld>
  <p:clrMapOvr>
    <a:masterClrMapping/>
  </p:clrMapOvr>
</p:sld>
</file>

<file path=ppt/theme/theme1.xml><?xml version="1.0" encoding="utf-8"?>
<a:theme xmlns:a="http://schemas.openxmlformats.org/drawingml/2006/main" name="TrueYield Sankalp Pitch">
  <a:themeElements>
    <a:clrScheme name="TrueYield Sankalp Pitch">
      <a:dk1>
        <a:srgbClr val="0B2545"/>
      </a:dk1>
      <a:lt1>
        <a:srgbClr val="FAFAF7"/>
      </a:lt1>
      <a:dk2>
        <a:srgbClr val="475A72"/>
      </a:dk2>
      <a:lt2>
        <a:srgbClr val="E2E5E5"/>
      </a:lt2>
      <a:accent1>
        <a:srgbClr val="F5A623"/>
      </a:accent1>
      <a:accent2>
        <a:srgbClr val="8A5200"/>
      </a:accent2>
      <a:accent3>
        <a:srgbClr val="1F5C42"/>
      </a:accent3>
      <a:accent4>
        <a:srgbClr val="FBE3B8"/>
      </a:accent4>
      <a:accent5>
        <a:srgbClr val="2E7D5B"/>
      </a:accent5>
      <a:accent6>
        <a:srgbClr val="414B5A"/>
      </a:accent6>
      <a:hlink>
        <a:srgbClr val="0563C1"/>
      </a:hlink>
      <a:folHlink>
        <a:srgbClr val="954F72"/>
      </a:folHlink>
    </a:clrScheme>
    <a:fontScheme name="TrueYield Sankalp Pitch">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2039</Words>
  <Application>Microsoft Office PowerPoint</Application>
  <PresentationFormat>Widescreen</PresentationFormat>
  <Paragraphs>191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DM Sans</vt:lpstr>
      <vt:lpstr>Segoe UI Black</vt:lpstr>
      <vt:lpstr>TrueYield Sankalp Pitch</vt:lpstr>
      <vt:lpstr>TrueYield</vt:lpstr>
      <vt:lpstr>Small solar systems lose output quietly, and owners cannot see it</vt:lpstr>
      <vt:lpstr>One loop: verify the loss, explain it, and prove the recovery</vt:lpstr>
      <vt:lpstr>A transparent pipeline from inverter data to an auditable report</vt:lpstr>
      <vt:lpstr>The gap is independent, uncertainty-aware verification for small systems</vt:lpstr>
      <vt:lpstr>Impact is measured in kWh recovered, before and after a dated fix</vt:lpstr>
      <vt:lpstr>A clear first user, a path to scale, and risks we already know</vt:lpstr>
      <vt:lpstr>Every figure in this deck traces to a source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TrueYield Sankalp Pitch</dc:title>
  <dc:subject/>
  <dc:creator/>
  <cp:lastModifiedBy>Microsoft account</cp:lastModifiedBy>
  <cp:revision>6</cp:revision>
  <dcterms:created xsi:type="dcterms:W3CDTF">2026-10-04T12:26:28Z</dcterms:created>
  <dcterms:modified xsi:type="dcterms:W3CDTF">2026-10-04T13:15:03Z</dcterms:modified>
</cp:coreProperties>
</file>